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Inter Bold" charset="1" panose="02000503000000020004"/>
      <p:regular r:id="rId37"/>
    </p:embeddedFont>
    <p:embeddedFont>
      <p:font typeface="Canva Sans" charset="1" panose="020B0503030501040103"/>
      <p:regular r:id="rId38"/>
    </p:embeddedFont>
    <p:embeddedFont>
      <p:font typeface="Canva Sans Bold" charset="1" panose="020B0803030501040103"/>
      <p:regular r:id="rId39"/>
    </p:embeddedFont>
    <p:embeddedFont>
      <p:font typeface="Inter" charset="1" panose="020005030000000200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6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2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Relationship Id="rId3" Target="../media/VAG50lXd4UI.mp4" Type="http://schemas.openxmlformats.org/officeDocument/2006/relationships/video"/><Relationship Id="rId4" Target="../media/VAG50lXd4UI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jpeg" Type="http://schemas.openxmlformats.org/officeDocument/2006/relationships/image"/><Relationship Id="rId3" Target="../media/VAG7rl6XlHU.mp4" Type="http://schemas.openxmlformats.org/officeDocument/2006/relationships/video"/><Relationship Id="rId4" Target="../media/VAG7rl6XlHU.mp4" Type="http://schemas.microsoft.com/office/2007/relationships/media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45601" y="1343223"/>
            <a:ext cx="5499410" cy="6314679"/>
            <a:chOff x="0" y="0"/>
            <a:chExt cx="24384000" cy="279988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7998849"/>
            </a:xfrm>
            <a:custGeom>
              <a:avLst/>
              <a:gdLst/>
              <a:ahLst/>
              <a:cxnLst/>
              <a:rect r="r" b="b" t="t" l="l"/>
              <a:pathLst>
                <a:path h="2799884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7998849"/>
                  </a:lnTo>
                  <a:lnTo>
                    <a:pt x="0" y="27998849"/>
                  </a:lnTo>
                  <a:close/>
                </a:path>
              </a:pathLst>
            </a:custGeom>
            <a:blipFill>
              <a:blip r:embed="rId2"/>
              <a:stretch>
                <a:fillRect l="-1312" t="0" r="-131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931312" y="8594049"/>
            <a:ext cx="6327988" cy="664251"/>
          </a:xfrm>
          <a:custGeom>
            <a:avLst/>
            <a:gdLst/>
            <a:ahLst/>
            <a:cxnLst/>
            <a:rect r="r" b="b" t="t" l="l"/>
            <a:pathLst>
              <a:path h="664251" w="6327988">
                <a:moveTo>
                  <a:pt x="0" y="0"/>
                </a:moveTo>
                <a:lnTo>
                  <a:pt x="6327988" y="0"/>
                </a:lnTo>
                <a:lnTo>
                  <a:pt x="6327988" y="664251"/>
                </a:lnTo>
                <a:lnTo>
                  <a:pt x="0" y="664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817" r="0" b="-1881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0125"/>
            <a:ext cx="8545125" cy="350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Validation of Combined Vector Field Approach With Full Quadrotor Dynamics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067" y="8379777"/>
            <a:ext cx="384318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Presented By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067" y="8969058"/>
            <a:ext cx="384318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Dheeraj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53254" y="8969058"/>
            <a:ext cx="3843187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Dr. Sikha Hota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53254" y="8379777"/>
            <a:ext cx="384318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Supervisor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813275" y="2034519"/>
            <a:ext cx="792844" cy="792844"/>
          </a:xfrm>
          <a:custGeom>
            <a:avLst/>
            <a:gdLst/>
            <a:ahLst/>
            <a:cxnLst/>
            <a:rect r="r" b="b" t="t" l="l"/>
            <a:pathLst>
              <a:path h="792844" w="792844">
                <a:moveTo>
                  <a:pt x="0" y="0"/>
                </a:moveTo>
                <a:lnTo>
                  <a:pt x="792844" y="0"/>
                </a:lnTo>
                <a:lnTo>
                  <a:pt x="792844" y="792844"/>
                </a:lnTo>
                <a:lnTo>
                  <a:pt x="0" y="792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13275" y="3643014"/>
            <a:ext cx="792844" cy="792844"/>
          </a:xfrm>
          <a:custGeom>
            <a:avLst/>
            <a:gdLst/>
            <a:ahLst/>
            <a:cxnLst/>
            <a:rect r="r" b="b" t="t" l="l"/>
            <a:pathLst>
              <a:path h="792844" w="792844">
                <a:moveTo>
                  <a:pt x="0" y="0"/>
                </a:moveTo>
                <a:lnTo>
                  <a:pt x="792844" y="0"/>
                </a:lnTo>
                <a:lnTo>
                  <a:pt x="792844" y="792844"/>
                </a:lnTo>
                <a:lnTo>
                  <a:pt x="0" y="7928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13275" y="5083558"/>
            <a:ext cx="792844" cy="792844"/>
          </a:xfrm>
          <a:custGeom>
            <a:avLst/>
            <a:gdLst/>
            <a:ahLst/>
            <a:cxnLst/>
            <a:rect r="r" b="b" t="t" l="l"/>
            <a:pathLst>
              <a:path h="792844" w="792844">
                <a:moveTo>
                  <a:pt x="0" y="0"/>
                </a:moveTo>
                <a:lnTo>
                  <a:pt x="792844" y="0"/>
                </a:lnTo>
                <a:lnTo>
                  <a:pt x="792844" y="792844"/>
                </a:lnTo>
                <a:lnTo>
                  <a:pt x="0" y="792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22800" y="648494"/>
            <a:ext cx="3624699" cy="7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1986894"/>
            <a:ext cx="8407695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UAVs are integral to modern Aerospace applications, ranging from surveillance and reconnaissance to delivery, environmental monitoring, and precision agriculture.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595389"/>
            <a:ext cx="840769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Autonomous operations require precise path following to a desired path. To achieve this, a robust path-following algorithm is necessary.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5035933"/>
            <a:ext cx="840769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are mainly two types of path-following algorithms:</a:t>
            </a:r>
          </a:p>
        </p:txBody>
      </p:sp>
      <p:sp>
        <p:nvSpPr>
          <p:cNvPr name="Freeform 11" id="11"/>
          <p:cNvSpPr/>
          <p:nvPr/>
        </p:nvSpPr>
        <p:spPr>
          <a:xfrm>
            <a:off x="9480951" y="5352257"/>
            <a:ext cx="343903" cy="933427"/>
          </a:xfrm>
          <a:custGeom>
            <a:avLst/>
            <a:gdLst/>
            <a:ahLst/>
            <a:cxnLst/>
            <a:rect r="r" b="b" t="t" l="l"/>
            <a:pathLst>
              <a:path h="933427" w="343903">
                <a:moveTo>
                  <a:pt x="0" y="0"/>
                </a:moveTo>
                <a:lnTo>
                  <a:pt x="0" y="761475"/>
                </a:lnTo>
                <a:cubicBezTo>
                  <a:pt x="0" y="856442"/>
                  <a:pt x="76985" y="933427"/>
                  <a:pt x="171951" y="933427"/>
                </a:cubicBezTo>
                <a:lnTo>
                  <a:pt x="343903" y="933427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824853" y="6050734"/>
            <a:ext cx="51270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Virtual Target Point (VTP) based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0305" y="6594314"/>
            <a:ext cx="7671391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includes Carrot-Chasing Algorithm, Non-Linear Guidance Law (NLGL), Pure Pursuit, and Line of Sight (PLOS) based Guidance Law, etc.</a:t>
            </a:r>
          </a:p>
        </p:txBody>
      </p:sp>
      <p:sp>
        <p:nvSpPr>
          <p:cNvPr name="Freeform 14" id="14"/>
          <p:cNvSpPr/>
          <p:nvPr/>
        </p:nvSpPr>
        <p:spPr>
          <a:xfrm>
            <a:off x="9480951" y="6098359"/>
            <a:ext cx="343903" cy="1997436"/>
          </a:xfrm>
          <a:custGeom>
            <a:avLst/>
            <a:gdLst/>
            <a:ahLst/>
            <a:cxnLst/>
            <a:rect r="r" b="b" t="t" l="l"/>
            <a:pathLst>
              <a:path h="1997436" w="343903">
                <a:moveTo>
                  <a:pt x="0" y="0"/>
                </a:moveTo>
                <a:lnTo>
                  <a:pt x="0" y="1825484"/>
                </a:lnTo>
                <a:cubicBezTo>
                  <a:pt x="0" y="1920451"/>
                  <a:pt x="76985" y="1997436"/>
                  <a:pt x="171951" y="1997436"/>
                </a:cubicBezTo>
                <a:lnTo>
                  <a:pt x="343903" y="1997436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824853" y="7860845"/>
            <a:ext cx="369766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Vector Field (VF) Based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24853" y="8406945"/>
            <a:ext cx="767139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includes Lyapunov Guidance Vector Field (LGVF), Combined Vector Field (CVF), etc.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75200" y="2889524"/>
            <a:ext cx="294780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Vector Field?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22800" y="648494"/>
            <a:ext cx="3624699" cy="7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75200" y="1612640"/>
            <a:ext cx="928410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paper discusses the Combined Vector Field (CVF) approach and its validation, which is also a belongs to the class of Vector Field based guidance.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978475" y="3700360"/>
            <a:ext cx="692200" cy="692200"/>
            <a:chOff x="0" y="0"/>
            <a:chExt cx="922933" cy="922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2909" cy="922909"/>
            </a:xfrm>
            <a:custGeom>
              <a:avLst/>
              <a:gdLst/>
              <a:ahLst/>
              <a:cxnLst/>
              <a:rect r="r" b="b" t="t" l="l"/>
              <a:pathLst>
                <a:path h="922909" w="922909">
                  <a:moveTo>
                    <a:pt x="0" y="461518"/>
                  </a:moveTo>
                  <a:cubicBezTo>
                    <a:pt x="0" y="206629"/>
                    <a:pt x="206629" y="0"/>
                    <a:pt x="461518" y="0"/>
                  </a:cubicBezTo>
                  <a:cubicBezTo>
                    <a:pt x="716407" y="0"/>
                    <a:pt x="922909" y="206629"/>
                    <a:pt x="922909" y="461518"/>
                  </a:cubicBezTo>
                  <a:cubicBezTo>
                    <a:pt x="922909" y="716407"/>
                    <a:pt x="716280" y="922909"/>
                    <a:pt x="461518" y="922909"/>
                  </a:cubicBezTo>
                  <a:cubicBezTo>
                    <a:pt x="206756" y="922909"/>
                    <a:pt x="0" y="716280"/>
                    <a:pt x="0" y="461518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8168900" y="3890786"/>
            <a:ext cx="311349" cy="311349"/>
          </a:xfrm>
          <a:custGeom>
            <a:avLst/>
            <a:gdLst/>
            <a:ahLst/>
            <a:cxnLst/>
            <a:rect r="r" b="b" t="t" l="l"/>
            <a:pathLst>
              <a:path h="311349" w="311349">
                <a:moveTo>
                  <a:pt x="0" y="0"/>
                </a:moveTo>
                <a:lnTo>
                  <a:pt x="311349" y="0"/>
                </a:lnTo>
                <a:lnTo>
                  <a:pt x="311349" y="311349"/>
                </a:lnTo>
                <a:lnTo>
                  <a:pt x="0" y="31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060" t="0" r="-606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5621310"/>
            <a:ext cx="283642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External Disturbances and Wind Handling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4125935"/>
            <a:ext cx="8115300" cy="7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Exhibits reduced cross-track oscillations compared to Way Point methods.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78475" y="5602235"/>
            <a:ext cx="692200" cy="692200"/>
            <a:chOff x="0" y="0"/>
            <a:chExt cx="922933" cy="922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2909" cy="922909"/>
            </a:xfrm>
            <a:custGeom>
              <a:avLst/>
              <a:gdLst/>
              <a:ahLst/>
              <a:cxnLst/>
              <a:rect r="r" b="b" t="t" l="l"/>
              <a:pathLst>
                <a:path h="922909" w="922909">
                  <a:moveTo>
                    <a:pt x="0" y="461518"/>
                  </a:moveTo>
                  <a:cubicBezTo>
                    <a:pt x="0" y="206629"/>
                    <a:pt x="206629" y="0"/>
                    <a:pt x="461518" y="0"/>
                  </a:cubicBezTo>
                  <a:cubicBezTo>
                    <a:pt x="716407" y="0"/>
                    <a:pt x="922909" y="206629"/>
                    <a:pt x="922909" y="461518"/>
                  </a:cubicBezTo>
                  <a:cubicBezTo>
                    <a:pt x="922909" y="716407"/>
                    <a:pt x="716280" y="922909"/>
                    <a:pt x="461518" y="922909"/>
                  </a:cubicBezTo>
                  <a:cubicBezTo>
                    <a:pt x="206756" y="922909"/>
                    <a:pt x="0" y="716280"/>
                    <a:pt x="0" y="461518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8168900" y="5792661"/>
            <a:ext cx="311349" cy="311349"/>
          </a:xfrm>
          <a:custGeom>
            <a:avLst/>
            <a:gdLst/>
            <a:ahLst/>
            <a:cxnLst/>
            <a:rect r="r" b="b" t="t" l="l"/>
            <a:pathLst>
              <a:path h="311349" w="311349">
                <a:moveTo>
                  <a:pt x="0" y="0"/>
                </a:moveTo>
                <a:lnTo>
                  <a:pt x="311349" y="0"/>
                </a:lnTo>
                <a:lnTo>
                  <a:pt x="311349" y="311349"/>
                </a:lnTo>
                <a:lnTo>
                  <a:pt x="0" y="311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696" r="0" b="-1969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44000" y="3871736"/>
            <a:ext cx="2584728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Reduced Oscillations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6218235"/>
            <a:ext cx="8115300" cy="117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Can gracefully handle the environmental disturbances and wind disturbances. Which is way more difficult to do in way point/VTP based methods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3645" y="509034"/>
            <a:ext cx="6504624" cy="4395104"/>
            <a:chOff x="0" y="0"/>
            <a:chExt cx="24384000" cy="164760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0" cy="16476005"/>
            </a:xfrm>
            <a:custGeom>
              <a:avLst/>
              <a:gdLst/>
              <a:ahLst/>
              <a:cxnLst/>
              <a:rect r="r" b="b" t="t" l="l"/>
              <a:pathLst>
                <a:path h="1647600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476005"/>
                  </a:lnTo>
                  <a:lnTo>
                    <a:pt x="0" y="16476005"/>
                  </a:lnTo>
                  <a:close/>
                </a:path>
              </a:pathLst>
            </a:custGeom>
            <a:blipFill>
              <a:blip r:embed="rId6"/>
              <a:stretch>
                <a:fillRect l="-613" t="0" r="-613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3645" y="5064948"/>
            <a:ext cx="6851913" cy="4663082"/>
            <a:chOff x="0" y="0"/>
            <a:chExt cx="24384000" cy="165945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0" cy="16594575"/>
            </a:xfrm>
            <a:custGeom>
              <a:avLst/>
              <a:gdLst/>
              <a:ahLst/>
              <a:cxnLst/>
              <a:rect r="r" b="b" t="t" l="l"/>
              <a:pathLst>
                <a:path h="165945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594575"/>
                  </a:lnTo>
                  <a:lnTo>
                    <a:pt x="0" y="16594575"/>
                  </a:lnTo>
                  <a:close/>
                </a:path>
              </a:pathLst>
            </a:custGeom>
            <a:blipFill>
              <a:blip r:embed="rId7"/>
              <a:stretch>
                <a:fillRect l="-977" t="0" r="-977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0" y="-2232"/>
            <a:ext cx="6858000" cy="10289232"/>
            <a:chOff x="0" y="0"/>
            <a:chExt cx="9144000" cy="1371897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44000" cy="13718921"/>
            </a:xfrm>
            <a:custGeom>
              <a:avLst/>
              <a:gdLst/>
              <a:ahLst/>
              <a:cxnLst/>
              <a:rect r="r" b="b" t="t" l="l"/>
              <a:pathLst>
                <a:path h="1371892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8921"/>
                  </a:lnTo>
                  <a:lnTo>
                    <a:pt x="0" y="13718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t="0" r="-1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>
            <a:off x="1405011" y="1976118"/>
            <a:ext cx="538959" cy="536575"/>
          </a:xfrm>
          <a:custGeom>
            <a:avLst/>
            <a:gdLst/>
            <a:ahLst/>
            <a:cxnLst/>
            <a:rect r="r" b="b" t="t" l="l"/>
            <a:pathLst>
              <a:path h="536575" w="538959">
                <a:moveTo>
                  <a:pt x="0" y="0"/>
                </a:moveTo>
                <a:lnTo>
                  <a:pt x="0" y="307975"/>
                </a:lnTo>
                <a:cubicBezTo>
                  <a:pt x="0" y="368603"/>
                  <a:pt x="24085" y="426748"/>
                  <a:pt x="66956" y="469619"/>
                </a:cubicBezTo>
                <a:cubicBezTo>
                  <a:pt x="109827" y="512490"/>
                  <a:pt x="167972" y="536575"/>
                  <a:pt x="228600" y="536575"/>
                </a:cubicBezTo>
                <a:lnTo>
                  <a:pt x="538960" y="53657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1405011" y="2185668"/>
            <a:ext cx="538959" cy="1014412"/>
          </a:xfrm>
          <a:custGeom>
            <a:avLst/>
            <a:gdLst/>
            <a:ahLst/>
            <a:cxnLst/>
            <a:rect r="r" b="b" t="t" l="l"/>
            <a:pathLst>
              <a:path h="1014412" w="538959">
                <a:moveTo>
                  <a:pt x="0" y="0"/>
                </a:moveTo>
                <a:lnTo>
                  <a:pt x="0" y="785812"/>
                </a:lnTo>
                <a:cubicBezTo>
                  <a:pt x="0" y="846441"/>
                  <a:pt x="24085" y="904586"/>
                  <a:pt x="66956" y="947457"/>
                </a:cubicBezTo>
                <a:cubicBezTo>
                  <a:pt x="109827" y="990327"/>
                  <a:pt x="167972" y="1014412"/>
                  <a:pt x="228600" y="1014412"/>
                </a:cubicBezTo>
                <a:lnTo>
                  <a:pt x="538960" y="101441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438591" y="3740085"/>
            <a:ext cx="4108941" cy="1679135"/>
          </a:xfrm>
          <a:custGeom>
            <a:avLst/>
            <a:gdLst/>
            <a:ahLst/>
            <a:cxnLst/>
            <a:rect r="r" b="b" t="t" l="l"/>
            <a:pathLst>
              <a:path h="1679135" w="4108941">
                <a:moveTo>
                  <a:pt x="0" y="0"/>
                </a:moveTo>
                <a:lnTo>
                  <a:pt x="4108941" y="0"/>
                </a:lnTo>
                <a:lnTo>
                  <a:pt x="4108941" y="1679134"/>
                </a:lnTo>
                <a:lnTo>
                  <a:pt x="0" y="1679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>
            <a:off x="1405011" y="2839718"/>
            <a:ext cx="538959" cy="3473264"/>
          </a:xfrm>
          <a:custGeom>
            <a:avLst/>
            <a:gdLst/>
            <a:ahLst/>
            <a:cxnLst/>
            <a:rect r="r" b="b" t="t" l="l"/>
            <a:pathLst>
              <a:path h="3473264" w="538959">
                <a:moveTo>
                  <a:pt x="0" y="0"/>
                </a:moveTo>
                <a:lnTo>
                  <a:pt x="0" y="3244664"/>
                </a:lnTo>
                <a:cubicBezTo>
                  <a:pt x="0" y="3305292"/>
                  <a:pt x="24085" y="3363437"/>
                  <a:pt x="66956" y="3406309"/>
                </a:cubicBezTo>
                <a:cubicBezTo>
                  <a:pt x="109827" y="3449179"/>
                  <a:pt x="167972" y="3473264"/>
                  <a:pt x="228600" y="3473264"/>
                </a:cubicBezTo>
                <a:lnTo>
                  <a:pt x="538960" y="3473264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441807" y="7025769"/>
            <a:ext cx="2102509" cy="476040"/>
          </a:xfrm>
          <a:custGeom>
            <a:avLst/>
            <a:gdLst/>
            <a:ahLst/>
            <a:cxnLst/>
            <a:rect r="r" b="b" t="t" l="l"/>
            <a:pathLst>
              <a:path h="476040" w="2102509">
                <a:moveTo>
                  <a:pt x="0" y="0"/>
                </a:moveTo>
                <a:lnTo>
                  <a:pt x="2102509" y="0"/>
                </a:lnTo>
                <a:lnTo>
                  <a:pt x="2102509" y="476040"/>
                </a:lnTo>
                <a:lnTo>
                  <a:pt x="0" y="476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648494"/>
            <a:ext cx="5710237" cy="7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553843"/>
            <a:ext cx="294780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2D Case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971" y="2138043"/>
            <a:ext cx="882949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UAV has an attitude hold with zero climb rate and velocity hold for constant airspeed (Va)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971" y="3001643"/>
            <a:ext cx="88294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kinematic model of the UAV can be given 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3971" y="5762119"/>
            <a:ext cx="882949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Given 2D arbitrary twice differentiable curved path C2: f(x, y) = 0, we define the directional distance between the current UAV position (</a:t>
            </a: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= (x, y)), to curve C2 as</a:t>
            </a:r>
          </a:p>
        </p:txBody>
      </p:sp>
      <p:sp>
        <p:nvSpPr>
          <p:cNvPr name="Freeform 14" id="14"/>
          <p:cNvSpPr/>
          <p:nvPr/>
        </p:nvSpPr>
        <p:spPr>
          <a:xfrm>
            <a:off x="1405011" y="5809745"/>
            <a:ext cx="538959" cy="2409614"/>
          </a:xfrm>
          <a:custGeom>
            <a:avLst/>
            <a:gdLst/>
            <a:ahLst/>
            <a:cxnLst/>
            <a:rect r="r" b="b" t="t" l="l"/>
            <a:pathLst>
              <a:path h="2409614" w="538959">
                <a:moveTo>
                  <a:pt x="0" y="0"/>
                </a:moveTo>
                <a:lnTo>
                  <a:pt x="0" y="2181014"/>
                </a:lnTo>
                <a:cubicBezTo>
                  <a:pt x="0" y="2241643"/>
                  <a:pt x="24085" y="2299788"/>
                  <a:pt x="66956" y="2342658"/>
                </a:cubicBezTo>
                <a:cubicBezTo>
                  <a:pt x="109827" y="2385529"/>
                  <a:pt x="167972" y="2409614"/>
                  <a:pt x="228600" y="2409614"/>
                </a:cubicBezTo>
                <a:lnTo>
                  <a:pt x="538960" y="2409614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943971" y="7844709"/>
            <a:ext cx="882949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implies that if |r| is large, the UAV is very far away from the curve C2, and if r = 0, the UAV has converged to the desired curve.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0" y="-2232"/>
            <a:ext cx="6858000" cy="10289232"/>
            <a:chOff x="0" y="0"/>
            <a:chExt cx="9144000" cy="1371897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44000" cy="13718921"/>
            </a:xfrm>
            <a:custGeom>
              <a:avLst/>
              <a:gdLst/>
              <a:ahLst/>
              <a:cxnLst/>
              <a:rect r="r" b="b" t="t" l="l"/>
              <a:pathLst>
                <a:path h="1371892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8921"/>
                  </a:lnTo>
                  <a:lnTo>
                    <a:pt x="0" y="13718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t="0" r="-1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>
            <a:off x="1405011" y="1976118"/>
            <a:ext cx="538959" cy="360362"/>
          </a:xfrm>
          <a:custGeom>
            <a:avLst/>
            <a:gdLst/>
            <a:ahLst/>
            <a:cxnLst/>
            <a:rect r="r" b="b" t="t" l="l"/>
            <a:pathLst>
              <a:path h="360362" w="538959">
                <a:moveTo>
                  <a:pt x="0" y="0"/>
                </a:moveTo>
                <a:lnTo>
                  <a:pt x="0" y="180181"/>
                </a:lnTo>
                <a:cubicBezTo>
                  <a:pt x="0" y="227968"/>
                  <a:pt x="18984" y="273798"/>
                  <a:pt x="52774" y="307588"/>
                </a:cubicBezTo>
                <a:cubicBezTo>
                  <a:pt x="86565" y="341379"/>
                  <a:pt x="132395" y="360362"/>
                  <a:pt x="180182" y="360362"/>
                </a:cubicBezTo>
                <a:lnTo>
                  <a:pt x="538960" y="36036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274304" y="4120458"/>
            <a:ext cx="919428" cy="291882"/>
          </a:xfrm>
          <a:custGeom>
            <a:avLst/>
            <a:gdLst/>
            <a:ahLst/>
            <a:cxnLst/>
            <a:rect r="r" b="b" t="t" l="l"/>
            <a:pathLst>
              <a:path h="291882" w="919428">
                <a:moveTo>
                  <a:pt x="0" y="0"/>
                </a:moveTo>
                <a:lnTo>
                  <a:pt x="919428" y="0"/>
                </a:lnTo>
                <a:lnTo>
                  <a:pt x="919428" y="291882"/>
                </a:lnTo>
                <a:lnTo>
                  <a:pt x="0" y="291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>
            <a:off x="1405011" y="2185668"/>
            <a:ext cx="538959" cy="4724400"/>
          </a:xfrm>
          <a:custGeom>
            <a:avLst/>
            <a:gdLst/>
            <a:ahLst/>
            <a:cxnLst/>
            <a:rect r="r" b="b" t="t" l="l"/>
            <a:pathLst>
              <a:path h="4724400" w="538959">
                <a:moveTo>
                  <a:pt x="0" y="0"/>
                </a:moveTo>
                <a:lnTo>
                  <a:pt x="0" y="4495799"/>
                </a:lnTo>
                <a:cubicBezTo>
                  <a:pt x="0" y="4556428"/>
                  <a:pt x="24085" y="4614574"/>
                  <a:pt x="66956" y="4657444"/>
                </a:cubicBezTo>
                <a:cubicBezTo>
                  <a:pt x="109827" y="4700315"/>
                  <a:pt x="167972" y="4724399"/>
                  <a:pt x="228600" y="4724399"/>
                </a:cubicBezTo>
                <a:lnTo>
                  <a:pt x="538960" y="4724399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885186" y="2696843"/>
            <a:ext cx="7200029" cy="3086100"/>
            <a:chOff x="0" y="0"/>
            <a:chExt cx="1896304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6304" cy="812800"/>
            </a:xfrm>
            <a:custGeom>
              <a:avLst/>
              <a:gdLst/>
              <a:ahLst/>
              <a:cxnLst/>
              <a:rect r="r" b="b" t="t" l="l"/>
              <a:pathLst>
                <a:path h="812800" w="1896304">
                  <a:moveTo>
                    <a:pt x="54838" y="0"/>
                  </a:moveTo>
                  <a:lnTo>
                    <a:pt x="1841466" y="0"/>
                  </a:lnTo>
                  <a:cubicBezTo>
                    <a:pt x="1871752" y="0"/>
                    <a:pt x="1896304" y="24552"/>
                    <a:pt x="1896304" y="54838"/>
                  </a:cubicBezTo>
                  <a:lnTo>
                    <a:pt x="1896304" y="757962"/>
                  </a:lnTo>
                  <a:cubicBezTo>
                    <a:pt x="1896304" y="788248"/>
                    <a:pt x="1871752" y="812800"/>
                    <a:pt x="1841466" y="812800"/>
                  </a:cubicBezTo>
                  <a:lnTo>
                    <a:pt x="54838" y="812800"/>
                  </a:lnTo>
                  <a:cubicBezTo>
                    <a:pt x="24552" y="812800"/>
                    <a:pt x="0" y="788248"/>
                    <a:pt x="0" y="757962"/>
                  </a:cubicBezTo>
                  <a:lnTo>
                    <a:pt x="0" y="54838"/>
                  </a:lnTo>
                  <a:cubicBezTo>
                    <a:pt x="0" y="24552"/>
                    <a:pt x="24552" y="0"/>
                    <a:pt x="5483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96304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648494"/>
            <a:ext cx="5710237" cy="7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553843"/>
            <a:ext cx="294780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2D Case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971" y="2138043"/>
            <a:ext cx="88294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2D path following problem can be summarized as: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44863" y="3010686"/>
            <a:ext cx="6280676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design the input command u1 for the UAV whose kinematics are given as in the previous slide, such that: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i)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input constraints                  holds.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ii)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if possible, force the UAV to fly along C2,      and if not, force it to make the absolute directional distance |r| as small as possible.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43971" y="6535418"/>
            <a:ext cx="720002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Then, to validate the derived 2D path following algorithm with the full quadrotor dynamics.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0" y="-2232"/>
            <a:ext cx="6858000" cy="10289232"/>
            <a:chOff x="0" y="0"/>
            <a:chExt cx="9144000" cy="1371897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44000" cy="13718921"/>
            </a:xfrm>
            <a:custGeom>
              <a:avLst/>
              <a:gdLst/>
              <a:ahLst/>
              <a:cxnLst/>
              <a:rect r="r" b="b" t="t" l="l"/>
              <a:pathLst>
                <a:path h="1371892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8921"/>
                  </a:lnTo>
                  <a:lnTo>
                    <a:pt x="0" y="13718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t="0" r="-1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>
            <a:off x="1405011" y="1976118"/>
            <a:ext cx="538959" cy="536575"/>
          </a:xfrm>
          <a:custGeom>
            <a:avLst/>
            <a:gdLst/>
            <a:ahLst/>
            <a:cxnLst/>
            <a:rect r="r" b="b" t="t" l="l"/>
            <a:pathLst>
              <a:path h="536575" w="538959">
                <a:moveTo>
                  <a:pt x="0" y="0"/>
                </a:moveTo>
                <a:lnTo>
                  <a:pt x="0" y="307975"/>
                </a:lnTo>
                <a:cubicBezTo>
                  <a:pt x="0" y="368603"/>
                  <a:pt x="24085" y="426748"/>
                  <a:pt x="66956" y="469619"/>
                </a:cubicBezTo>
                <a:cubicBezTo>
                  <a:pt x="109827" y="512490"/>
                  <a:pt x="167972" y="536575"/>
                  <a:pt x="228600" y="536575"/>
                </a:cubicBezTo>
                <a:lnTo>
                  <a:pt x="538960" y="53657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1405011" y="2185668"/>
            <a:ext cx="538959" cy="1014412"/>
          </a:xfrm>
          <a:custGeom>
            <a:avLst/>
            <a:gdLst/>
            <a:ahLst/>
            <a:cxnLst/>
            <a:rect r="r" b="b" t="t" l="l"/>
            <a:pathLst>
              <a:path h="1014412" w="538959">
                <a:moveTo>
                  <a:pt x="0" y="0"/>
                </a:moveTo>
                <a:lnTo>
                  <a:pt x="0" y="785812"/>
                </a:lnTo>
                <a:cubicBezTo>
                  <a:pt x="0" y="846441"/>
                  <a:pt x="24085" y="904586"/>
                  <a:pt x="66956" y="947457"/>
                </a:cubicBezTo>
                <a:cubicBezTo>
                  <a:pt x="109827" y="990327"/>
                  <a:pt x="167972" y="1014412"/>
                  <a:pt x="228600" y="1014412"/>
                </a:cubicBezTo>
                <a:lnTo>
                  <a:pt x="538960" y="101441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1405011" y="2839718"/>
            <a:ext cx="538959" cy="3841582"/>
          </a:xfrm>
          <a:custGeom>
            <a:avLst/>
            <a:gdLst/>
            <a:ahLst/>
            <a:cxnLst/>
            <a:rect r="r" b="b" t="t" l="l"/>
            <a:pathLst>
              <a:path h="3841582" w="538959">
                <a:moveTo>
                  <a:pt x="0" y="0"/>
                </a:moveTo>
                <a:lnTo>
                  <a:pt x="0" y="3612982"/>
                </a:lnTo>
                <a:cubicBezTo>
                  <a:pt x="0" y="3673611"/>
                  <a:pt x="24085" y="3731756"/>
                  <a:pt x="66956" y="3774626"/>
                </a:cubicBezTo>
                <a:cubicBezTo>
                  <a:pt x="109827" y="3817497"/>
                  <a:pt x="167972" y="3841582"/>
                  <a:pt x="228600" y="3841582"/>
                </a:cubicBezTo>
                <a:lnTo>
                  <a:pt x="538960" y="384158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>
            <a:off x="1405011" y="5809745"/>
            <a:ext cx="538959" cy="2638037"/>
          </a:xfrm>
          <a:custGeom>
            <a:avLst/>
            <a:gdLst/>
            <a:ahLst/>
            <a:cxnLst/>
            <a:rect r="r" b="b" t="t" l="l"/>
            <a:pathLst>
              <a:path h="2638037" w="538959">
                <a:moveTo>
                  <a:pt x="0" y="0"/>
                </a:moveTo>
                <a:lnTo>
                  <a:pt x="0" y="2409437"/>
                </a:lnTo>
                <a:cubicBezTo>
                  <a:pt x="0" y="2470066"/>
                  <a:pt x="24085" y="2528211"/>
                  <a:pt x="66956" y="2571081"/>
                </a:cubicBezTo>
                <a:cubicBezTo>
                  <a:pt x="109827" y="2613952"/>
                  <a:pt x="167972" y="2638037"/>
                  <a:pt x="228600" y="2638037"/>
                </a:cubicBezTo>
                <a:lnTo>
                  <a:pt x="538960" y="2638037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321426" y="3560442"/>
            <a:ext cx="5260182" cy="2408070"/>
          </a:xfrm>
          <a:custGeom>
            <a:avLst/>
            <a:gdLst/>
            <a:ahLst/>
            <a:cxnLst/>
            <a:rect r="r" b="b" t="t" l="l"/>
            <a:pathLst>
              <a:path h="2408070" w="5260182">
                <a:moveTo>
                  <a:pt x="0" y="0"/>
                </a:moveTo>
                <a:lnTo>
                  <a:pt x="5260182" y="0"/>
                </a:lnTo>
                <a:lnTo>
                  <a:pt x="5260182" y="2408071"/>
                </a:lnTo>
                <a:lnTo>
                  <a:pt x="0" y="2408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06015" y="7394088"/>
            <a:ext cx="2091004" cy="421869"/>
          </a:xfrm>
          <a:custGeom>
            <a:avLst/>
            <a:gdLst/>
            <a:ahLst/>
            <a:cxnLst/>
            <a:rect r="r" b="b" t="t" l="l"/>
            <a:pathLst>
              <a:path h="421869" w="2091004">
                <a:moveTo>
                  <a:pt x="0" y="0"/>
                </a:moveTo>
                <a:lnTo>
                  <a:pt x="2091004" y="0"/>
                </a:lnTo>
                <a:lnTo>
                  <a:pt x="2091004" y="421869"/>
                </a:lnTo>
                <a:lnTo>
                  <a:pt x="0" y="421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648494"/>
            <a:ext cx="5710237" cy="7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553843"/>
            <a:ext cx="294780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3D Case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971" y="2138043"/>
            <a:ext cx="882949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Similar to the 2D case,  UAV has a velocity hold for constant airspeed (Va)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3971" y="3001643"/>
            <a:ext cx="88294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kinematic model of the UAV can be given 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43971" y="6130438"/>
            <a:ext cx="882949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Given 3D arbitrary twice differentiable curved path C3: { f(x, y, z) = 0 &amp; g(x, y, z) = 0 }, we define the directional distance between the current UAV position (</a:t>
            </a: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= (x, y, z)), to curve C2 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43971" y="8073132"/>
            <a:ext cx="8829490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Similar to 2D Case,  if |r| is large, the UAV is very far away from the curve C2, and if r = 0, the UAV has converged to the desired curve.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0" y="-2232"/>
            <a:ext cx="6858000" cy="10289232"/>
            <a:chOff x="0" y="0"/>
            <a:chExt cx="9144000" cy="1371897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44000" cy="13718921"/>
            </a:xfrm>
            <a:custGeom>
              <a:avLst/>
              <a:gdLst/>
              <a:ahLst/>
              <a:cxnLst/>
              <a:rect r="r" b="b" t="t" l="l"/>
              <a:pathLst>
                <a:path h="1371892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8921"/>
                  </a:lnTo>
                  <a:lnTo>
                    <a:pt x="0" y="13718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t="0" r="-1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>
            <a:off x="1405011" y="1976118"/>
            <a:ext cx="538959" cy="360362"/>
          </a:xfrm>
          <a:custGeom>
            <a:avLst/>
            <a:gdLst/>
            <a:ahLst/>
            <a:cxnLst/>
            <a:rect r="r" b="b" t="t" l="l"/>
            <a:pathLst>
              <a:path h="360362" w="538959">
                <a:moveTo>
                  <a:pt x="0" y="0"/>
                </a:moveTo>
                <a:lnTo>
                  <a:pt x="0" y="180181"/>
                </a:lnTo>
                <a:cubicBezTo>
                  <a:pt x="0" y="227968"/>
                  <a:pt x="18984" y="273798"/>
                  <a:pt x="52774" y="307588"/>
                </a:cubicBezTo>
                <a:cubicBezTo>
                  <a:pt x="86565" y="341379"/>
                  <a:pt x="132395" y="360362"/>
                  <a:pt x="180182" y="360362"/>
                </a:cubicBezTo>
                <a:lnTo>
                  <a:pt x="538960" y="36036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198532" y="4065802"/>
            <a:ext cx="1096771" cy="348181"/>
          </a:xfrm>
          <a:custGeom>
            <a:avLst/>
            <a:gdLst/>
            <a:ahLst/>
            <a:cxnLst/>
            <a:rect r="r" b="b" t="t" l="l"/>
            <a:pathLst>
              <a:path h="348181" w="1096771">
                <a:moveTo>
                  <a:pt x="0" y="0"/>
                </a:moveTo>
                <a:lnTo>
                  <a:pt x="1096771" y="0"/>
                </a:lnTo>
                <a:lnTo>
                  <a:pt x="1096771" y="348181"/>
                </a:lnTo>
                <a:lnTo>
                  <a:pt x="0" y="348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>
            <a:off x="1405011" y="2185668"/>
            <a:ext cx="538959" cy="4724400"/>
          </a:xfrm>
          <a:custGeom>
            <a:avLst/>
            <a:gdLst/>
            <a:ahLst/>
            <a:cxnLst/>
            <a:rect r="r" b="b" t="t" l="l"/>
            <a:pathLst>
              <a:path h="4724400" w="538959">
                <a:moveTo>
                  <a:pt x="0" y="0"/>
                </a:moveTo>
                <a:lnTo>
                  <a:pt x="0" y="4495799"/>
                </a:lnTo>
                <a:cubicBezTo>
                  <a:pt x="0" y="4556428"/>
                  <a:pt x="24085" y="4614574"/>
                  <a:pt x="66956" y="4657444"/>
                </a:cubicBezTo>
                <a:cubicBezTo>
                  <a:pt x="109827" y="4700315"/>
                  <a:pt x="167972" y="4724399"/>
                  <a:pt x="228600" y="4724399"/>
                </a:cubicBezTo>
                <a:lnTo>
                  <a:pt x="538960" y="4724399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885186" y="2696843"/>
            <a:ext cx="7258814" cy="3368655"/>
            <a:chOff x="0" y="0"/>
            <a:chExt cx="1911786" cy="8872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11786" cy="887218"/>
            </a:xfrm>
            <a:custGeom>
              <a:avLst/>
              <a:gdLst/>
              <a:ahLst/>
              <a:cxnLst/>
              <a:rect r="r" b="b" t="t" l="l"/>
              <a:pathLst>
                <a:path h="887218" w="1911786">
                  <a:moveTo>
                    <a:pt x="54394" y="0"/>
                  </a:moveTo>
                  <a:lnTo>
                    <a:pt x="1857392" y="0"/>
                  </a:lnTo>
                  <a:cubicBezTo>
                    <a:pt x="1887433" y="0"/>
                    <a:pt x="1911786" y="24353"/>
                    <a:pt x="1911786" y="54394"/>
                  </a:cubicBezTo>
                  <a:lnTo>
                    <a:pt x="1911786" y="832824"/>
                  </a:lnTo>
                  <a:cubicBezTo>
                    <a:pt x="1911786" y="847250"/>
                    <a:pt x="1906055" y="861085"/>
                    <a:pt x="1895854" y="871286"/>
                  </a:cubicBezTo>
                  <a:cubicBezTo>
                    <a:pt x="1885654" y="881487"/>
                    <a:pt x="1871818" y="887218"/>
                    <a:pt x="1857392" y="887218"/>
                  </a:cubicBezTo>
                  <a:lnTo>
                    <a:pt x="54394" y="887218"/>
                  </a:lnTo>
                  <a:cubicBezTo>
                    <a:pt x="39968" y="887218"/>
                    <a:pt x="26133" y="881487"/>
                    <a:pt x="15932" y="871286"/>
                  </a:cubicBezTo>
                  <a:cubicBezTo>
                    <a:pt x="5731" y="861085"/>
                    <a:pt x="0" y="847250"/>
                    <a:pt x="0" y="832824"/>
                  </a:cubicBezTo>
                  <a:lnTo>
                    <a:pt x="0" y="54394"/>
                  </a:lnTo>
                  <a:cubicBezTo>
                    <a:pt x="0" y="39968"/>
                    <a:pt x="5731" y="26133"/>
                    <a:pt x="15932" y="15932"/>
                  </a:cubicBezTo>
                  <a:cubicBezTo>
                    <a:pt x="26133" y="5731"/>
                    <a:pt x="39968" y="0"/>
                    <a:pt x="54394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11786" cy="934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054205" y="4096022"/>
            <a:ext cx="887268" cy="346589"/>
          </a:xfrm>
          <a:custGeom>
            <a:avLst/>
            <a:gdLst/>
            <a:ahLst/>
            <a:cxnLst/>
            <a:rect r="r" b="b" t="t" l="l"/>
            <a:pathLst>
              <a:path h="346589" w="887268">
                <a:moveTo>
                  <a:pt x="0" y="0"/>
                </a:moveTo>
                <a:lnTo>
                  <a:pt x="887268" y="0"/>
                </a:lnTo>
                <a:lnTo>
                  <a:pt x="887268" y="346589"/>
                </a:lnTo>
                <a:lnTo>
                  <a:pt x="0" y="346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50555"/>
            <a:ext cx="5710237" cy="7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553843"/>
            <a:ext cx="294780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3D Case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3971" y="2138043"/>
            <a:ext cx="882949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3D path following problem can be summarized as: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44863" y="3010686"/>
            <a:ext cx="6280676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design the input commands u1 and u2 for the UAV whose kinematics are given as in the previous slide, such that: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i)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input constraints                     and                holds.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ii)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if possible, force the UAV to fly along C3,      and if not, force it to make the absolute directional distance |r| as small as possible.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43971" y="6535418"/>
            <a:ext cx="720002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Then, to validate the derived 3D path following algorithm with the full quadrotor dynamics.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99487" y="7622401"/>
            <a:ext cx="935685" cy="1865393"/>
            <a:chOff x="0" y="0"/>
            <a:chExt cx="10084374" cy="20104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84374" cy="20104314"/>
            </a:xfrm>
            <a:custGeom>
              <a:avLst/>
              <a:gdLst/>
              <a:ahLst/>
              <a:cxnLst/>
              <a:rect r="r" b="b" t="t" l="l"/>
              <a:pathLst>
                <a:path h="20104314" w="10084374">
                  <a:moveTo>
                    <a:pt x="0" y="0"/>
                  </a:moveTo>
                  <a:lnTo>
                    <a:pt x="10084374" y="0"/>
                  </a:lnTo>
                  <a:lnTo>
                    <a:pt x="10084374" y="20104314"/>
                  </a:lnTo>
                  <a:lnTo>
                    <a:pt x="0" y="20104314"/>
                  </a:lnTo>
                  <a:close/>
                </a:path>
              </a:pathLst>
            </a:custGeom>
            <a:blipFill>
              <a:blip r:embed="rId2"/>
              <a:stretch>
                <a:fillRect l="-163220" t="0" r="-16322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31711"/>
            <a:ext cx="6858000" cy="10271368"/>
            <a:chOff x="0" y="0"/>
            <a:chExt cx="10160000" cy="152168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0" cy="15216840"/>
            </a:xfrm>
            <a:custGeom>
              <a:avLst/>
              <a:gdLst/>
              <a:ahLst/>
              <a:cxnLst/>
              <a:rect r="r" b="b" t="t" l="l"/>
              <a:pathLst>
                <a:path h="1521684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5216840"/>
                  </a:lnTo>
                  <a:lnTo>
                    <a:pt x="0" y="15216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808" r="0" b="-980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97999" y="3008677"/>
            <a:ext cx="935685" cy="1499958"/>
            <a:chOff x="0" y="0"/>
            <a:chExt cx="1790700" cy="287059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790700" cy="2870544"/>
            </a:xfrm>
            <a:custGeom>
              <a:avLst/>
              <a:gdLst/>
              <a:ahLst/>
              <a:cxnLst/>
              <a:rect r="r" b="b" t="t" l="l"/>
              <a:pathLst>
                <a:path h="2870544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2870544"/>
                  </a:lnTo>
                  <a:lnTo>
                    <a:pt x="0" y="2870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334" t="0" r="-4334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99487" y="4442836"/>
            <a:ext cx="935685" cy="1621013"/>
            <a:chOff x="0" y="0"/>
            <a:chExt cx="1790700" cy="310226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790700" cy="3102212"/>
            </a:xfrm>
            <a:custGeom>
              <a:avLst/>
              <a:gdLst/>
              <a:ahLst/>
              <a:cxnLst/>
              <a:rect r="r" b="b" t="t" l="l"/>
              <a:pathLst>
                <a:path h="3102212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3102212"/>
                  </a:lnTo>
                  <a:lnTo>
                    <a:pt x="0" y="3102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270" t="0" r="-2227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99487" y="6010664"/>
            <a:ext cx="935685" cy="1668394"/>
            <a:chOff x="0" y="0"/>
            <a:chExt cx="1790700" cy="3192947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790700" cy="3192887"/>
            </a:xfrm>
            <a:custGeom>
              <a:avLst/>
              <a:gdLst/>
              <a:ahLst/>
              <a:cxnLst/>
              <a:rect r="r" b="b" t="t" l="l"/>
              <a:pathLst>
                <a:path h="3192887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3192887"/>
                  </a:lnTo>
                  <a:lnTo>
                    <a:pt x="0" y="3192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382" t="0" r="-24382" b="-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709296" y="272256"/>
            <a:ext cx="9550004" cy="149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Combined Vector Field (CVF) Based Guidance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09296" y="1789618"/>
            <a:ext cx="9550004" cy="794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CVF approach uses Helmholtz decomposition of Vector Fields to get conservative and solenoidal components for path following.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205836"/>
            <a:ext cx="4510581" cy="37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Helmholtz Decomposition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498540"/>
            <a:ext cx="7938493" cy="794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Any vector field can be split into a conservative (irrotational) and a solenoidal (rotational)  part.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69480" y="4914758"/>
            <a:ext cx="4485102" cy="37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Conservative Component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94959" y="5207463"/>
            <a:ext cx="7938493" cy="38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Forces the UAV towards or away from the desired path.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94959" y="7787888"/>
            <a:ext cx="3918287" cy="37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Re-Combination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69480" y="6815793"/>
            <a:ext cx="7938493" cy="38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Aligns the UAV with the direction of the curves in the path.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6489465"/>
            <a:ext cx="4510581" cy="37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Solenoidal Component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94959" y="8118693"/>
            <a:ext cx="7938493" cy="120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2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Recombines both the conservative and solenoidal vector fields with the appropriate weighting factors to formulate the Combined Vector Field.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8281254" y="2419126"/>
            <a:ext cx="709488" cy="541337"/>
          </a:xfrm>
          <a:custGeom>
            <a:avLst/>
            <a:gdLst/>
            <a:ahLst/>
            <a:cxnLst/>
            <a:rect r="r" b="b" t="t" l="l"/>
            <a:pathLst>
              <a:path h="541337" w="709488">
                <a:moveTo>
                  <a:pt x="0" y="0"/>
                </a:moveTo>
                <a:lnTo>
                  <a:pt x="177372" y="0"/>
                </a:lnTo>
                <a:cubicBezTo>
                  <a:pt x="275331" y="0"/>
                  <a:pt x="354744" y="79412"/>
                  <a:pt x="354744" y="177371"/>
                </a:cubicBezTo>
                <a:lnTo>
                  <a:pt x="354744" y="363965"/>
                </a:lnTo>
                <a:cubicBezTo>
                  <a:pt x="354744" y="411007"/>
                  <a:pt x="373431" y="456122"/>
                  <a:pt x="406695" y="489386"/>
                </a:cubicBezTo>
                <a:cubicBezTo>
                  <a:pt x="439959" y="522649"/>
                  <a:pt x="485074" y="541337"/>
                  <a:pt x="532116" y="541337"/>
                </a:cubicBezTo>
                <a:lnTo>
                  <a:pt x="709488" y="541337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971692" y="2809651"/>
            <a:ext cx="8287608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follow the twice differentiable 2D curve path given by f(x, y) = 0,</a:t>
            </a:r>
          </a:p>
        </p:txBody>
      </p:sp>
      <p:sp>
        <p:nvSpPr>
          <p:cNvPr name="Freeform 4" id="4"/>
          <p:cNvSpPr/>
          <p:nvPr/>
        </p:nvSpPr>
        <p:spPr>
          <a:xfrm>
            <a:off x="9541747" y="3130325"/>
            <a:ext cx="375992" cy="424840"/>
          </a:xfrm>
          <a:custGeom>
            <a:avLst/>
            <a:gdLst/>
            <a:ahLst/>
            <a:cxnLst/>
            <a:rect r="r" b="b" t="t" l="l"/>
            <a:pathLst>
              <a:path h="424840" w="375992">
                <a:moveTo>
                  <a:pt x="0" y="0"/>
                </a:moveTo>
                <a:lnTo>
                  <a:pt x="0" y="236844"/>
                </a:lnTo>
                <a:cubicBezTo>
                  <a:pt x="0" y="340671"/>
                  <a:pt x="84169" y="424840"/>
                  <a:pt x="187996" y="424840"/>
                </a:cubicBezTo>
                <a:lnTo>
                  <a:pt x="375992" y="42484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17739" y="3385302"/>
            <a:ext cx="4448173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Conservative part of the vector Field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89193" y="3982202"/>
            <a:ext cx="3190210" cy="1405855"/>
          </a:xfrm>
          <a:custGeom>
            <a:avLst/>
            <a:gdLst/>
            <a:ahLst/>
            <a:cxnLst/>
            <a:rect r="r" b="b" t="t" l="l"/>
            <a:pathLst>
              <a:path h="1405855" w="3190210">
                <a:moveTo>
                  <a:pt x="0" y="0"/>
                </a:moveTo>
                <a:lnTo>
                  <a:pt x="3190210" y="0"/>
                </a:lnTo>
                <a:lnTo>
                  <a:pt x="3190210" y="1405855"/>
                </a:lnTo>
                <a:lnTo>
                  <a:pt x="0" y="140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>
            <a:off x="9560797" y="3404353"/>
            <a:ext cx="531657" cy="2346706"/>
          </a:xfrm>
          <a:custGeom>
            <a:avLst/>
            <a:gdLst/>
            <a:ahLst/>
            <a:cxnLst/>
            <a:rect r="r" b="b" t="t" l="l"/>
            <a:pathLst>
              <a:path h="2346706" w="531657">
                <a:moveTo>
                  <a:pt x="0" y="0"/>
                </a:moveTo>
                <a:lnTo>
                  <a:pt x="0" y="944753"/>
                </a:lnTo>
                <a:cubicBezTo>
                  <a:pt x="0" y="1005381"/>
                  <a:pt x="24085" y="1063527"/>
                  <a:pt x="66956" y="1106398"/>
                </a:cubicBezTo>
                <a:cubicBezTo>
                  <a:pt x="109826" y="1149268"/>
                  <a:pt x="167971" y="1173353"/>
                  <a:pt x="228600" y="1173353"/>
                </a:cubicBezTo>
                <a:lnTo>
                  <a:pt x="303057" y="1173353"/>
                </a:lnTo>
                <a:cubicBezTo>
                  <a:pt x="363686" y="1173353"/>
                  <a:pt x="421831" y="1197437"/>
                  <a:pt x="464701" y="1240308"/>
                </a:cubicBezTo>
                <a:cubicBezTo>
                  <a:pt x="507572" y="1283179"/>
                  <a:pt x="531657" y="1341324"/>
                  <a:pt x="531657" y="1401953"/>
                </a:cubicBezTo>
                <a:lnTo>
                  <a:pt x="531657" y="2346706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917739" y="5556237"/>
            <a:ext cx="562126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Solenoidal part of the vector Field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546720" y="6153137"/>
            <a:ext cx="3190210" cy="1136026"/>
          </a:xfrm>
          <a:custGeom>
            <a:avLst/>
            <a:gdLst/>
            <a:ahLst/>
            <a:cxnLst/>
            <a:rect r="r" b="b" t="t" l="l"/>
            <a:pathLst>
              <a:path h="1136026" w="3190210">
                <a:moveTo>
                  <a:pt x="0" y="0"/>
                </a:moveTo>
                <a:lnTo>
                  <a:pt x="3190210" y="0"/>
                </a:lnTo>
                <a:lnTo>
                  <a:pt x="3190210" y="1136026"/>
                </a:lnTo>
                <a:lnTo>
                  <a:pt x="0" y="1136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>
            <a:off x="8300304" y="2809651"/>
            <a:ext cx="646764" cy="4935125"/>
          </a:xfrm>
          <a:custGeom>
            <a:avLst/>
            <a:gdLst/>
            <a:ahLst/>
            <a:cxnLst/>
            <a:rect r="r" b="b" t="t" l="l"/>
            <a:pathLst>
              <a:path h="4935125" w="646764">
                <a:moveTo>
                  <a:pt x="0" y="0"/>
                </a:moveTo>
                <a:lnTo>
                  <a:pt x="0" y="4706524"/>
                </a:lnTo>
                <a:cubicBezTo>
                  <a:pt x="0" y="4832776"/>
                  <a:pt x="102348" y="4935124"/>
                  <a:pt x="228600" y="4935124"/>
                </a:cubicBezTo>
                <a:lnTo>
                  <a:pt x="646764" y="4935124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947068" y="7574913"/>
            <a:ext cx="5864499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Then, the Combined Vector Field can be given 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431032" y="8200387"/>
            <a:ext cx="7368927" cy="1083666"/>
          </a:xfrm>
          <a:custGeom>
            <a:avLst/>
            <a:gdLst/>
            <a:ahLst/>
            <a:cxnLst/>
            <a:rect r="r" b="b" t="t" l="l"/>
            <a:pathLst>
              <a:path h="1083666" w="7368927">
                <a:moveTo>
                  <a:pt x="0" y="0"/>
                </a:moveTo>
                <a:lnTo>
                  <a:pt x="7368928" y="0"/>
                </a:lnTo>
                <a:lnTo>
                  <a:pt x="7368928" y="1083666"/>
                </a:lnTo>
                <a:lnTo>
                  <a:pt x="0" y="1083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09296" y="2034951"/>
            <a:ext cx="1518305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2D Case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99771" y="572863"/>
            <a:ext cx="8261188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Combined Vector Field Formulation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15632"/>
            <a:ext cx="6858000" cy="10271368"/>
            <a:chOff x="0" y="0"/>
            <a:chExt cx="10160000" cy="152168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0000" cy="15216840"/>
            </a:xfrm>
            <a:custGeom>
              <a:avLst/>
              <a:gdLst/>
              <a:ahLst/>
              <a:cxnLst/>
              <a:rect r="r" b="b" t="t" l="l"/>
              <a:pathLst>
                <a:path h="1521684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5216840"/>
                  </a:lnTo>
                  <a:lnTo>
                    <a:pt x="0" y="15216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808" r="0" b="-980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99771" y="572863"/>
            <a:ext cx="8261188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Combined Vector Field Formulation</a:t>
            </a:r>
          </a:p>
        </p:txBody>
      </p:sp>
      <p:sp>
        <p:nvSpPr>
          <p:cNvPr name="Freeform 3" id="3"/>
          <p:cNvSpPr/>
          <p:nvPr/>
        </p:nvSpPr>
        <p:spPr>
          <a:xfrm>
            <a:off x="8281254" y="2419126"/>
            <a:ext cx="709488" cy="541337"/>
          </a:xfrm>
          <a:custGeom>
            <a:avLst/>
            <a:gdLst/>
            <a:ahLst/>
            <a:cxnLst/>
            <a:rect r="r" b="b" t="t" l="l"/>
            <a:pathLst>
              <a:path h="541337" w="709488">
                <a:moveTo>
                  <a:pt x="0" y="0"/>
                </a:moveTo>
                <a:lnTo>
                  <a:pt x="177372" y="0"/>
                </a:lnTo>
                <a:cubicBezTo>
                  <a:pt x="275331" y="0"/>
                  <a:pt x="354744" y="79412"/>
                  <a:pt x="354744" y="177371"/>
                </a:cubicBezTo>
                <a:lnTo>
                  <a:pt x="354744" y="363965"/>
                </a:lnTo>
                <a:cubicBezTo>
                  <a:pt x="354744" y="411007"/>
                  <a:pt x="373431" y="456122"/>
                  <a:pt x="406695" y="489386"/>
                </a:cubicBezTo>
                <a:cubicBezTo>
                  <a:pt x="439959" y="522649"/>
                  <a:pt x="485074" y="541337"/>
                  <a:pt x="532116" y="541337"/>
                </a:cubicBezTo>
                <a:lnTo>
                  <a:pt x="709488" y="541337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971692" y="2809651"/>
            <a:ext cx="828760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follow the twice differentiable 3D curve path given by f(x, y, z) = 0, g(x, y, z) = 0</a:t>
            </a:r>
          </a:p>
        </p:txBody>
      </p:sp>
      <p:sp>
        <p:nvSpPr>
          <p:cNvPr name="Freeform 5" id="5"/>
          <p:cNvSpPr/>
          <p:nvPr/>
        </p:nvSpPr>
        <p:spPr>
          <a:xfrm>
            <a:off x="9541747" y="3444650"/>
            <a:ext cx="375992" cy="537552"/>
          </a:xfrm>
          <a:custGeom>
            <a:avLst/>
            <a:gdLst/>
            <a:ahLst/>
            <a:cxnLst/>
            <a:rect r="r" b="b" t="t" l="l"/>
            <a:pathLst>
              <a:path h="537552" w="375992">
                <a:moveTo>
                  <a:pt x="0" y="0"/>
                </a:moveTo>
                <a:lnTo>
                  <a:pt x="0" y="349556"/>
                </a:lnTo>
                <a:cubicBezTo>
                  <a:pt x="0" y="453383"/>
                  <a:pt x="84169" y="537552"/>
                  <a:pt x="187996" y="537552"/>
                </a:cubicBezTo>
                <a:lnTo>
                  <a:pt x="375992" y="537552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917739" y="3812340"/>
            <a:ext cx="4448173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Conservative part of the vector Field</a:t>
            </a:r>
          </a:p>
        </p:txBody>
      </p:sp>
      <p:sp>
        <p:nvSpPr>
          <p:cNvPr name="Freeform 7" id="7"/>
          <p:cNvSpPr/>
          <p:nvPr/>
        </p:nvSpPr>
        <p:spPr>
          <a:xfrm>
            <a:off x="9541747" y="3444650"/>
            <a:ext cx="375992" cy="2570445"/>
          </a:xfrm>
          <a:custGeom>
            <a:avLst/>
            <a:gdLst/>
            <a:ahLst/>
            <a:cxnLst/>
            <a:rect r="r" b="b" t="t" l="l"/>
            <a:pathLst>
              <a:path h="2570445" w="375992">
                <a:moveTo>
                  <a:pt x="0" y="0"/>
                </a:moveTo>
                <a:lnTo>
                  <a:pt x="0" y="2382450"/>
                </a:lnTo>
                <a:cubicBezTo>
                  <a:pt x="0" y="2432309"/>
                  <a:pt x="19807" y="2480127"/>
                  <a:pt x="55063" y="2515383"/>
                </a:cubicBezTo>
                <a:cubicBezTo>
                  <a:pt x="90319" y="2550639"/>
                  <a:pt x="138137" y="2570446"/>
                  <a:pt x="187996" y="2570446"/>
                </a:cubicBezTo>
                <a:lnTo>
                  <a:pt x="375992" y="2570446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9917739" y="5845233"/>
            <a:ext cx="562126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Solenoidal part of the vector Field</a:t>
            </a:r>
          </a:p>
        </p:txBody>
      </p:sp>
      <p:sp>
        <p:nvSpPr>
          <p:cNvPr name="Freeform 9" id="9"/>
          <p:cNvSpPr/>
          <p:nvPr/>
        </p:nvSpPr>
        <p:spPr>
          <a:xfrm>
            <a:off x="8300304" y="2809651"/>
            <a:ext cx="646764" cy="5197309"/>
          </a:xfrm>
          <a:custGeom>
            <a:avLst/>
            <a:gdLst/>
            <a:ahLst/>
            <a:cxnLst/>
            <a:rect r="r" b="b" t="t" l="l"/>
            <a:pathLst>
              <a:path h="5197309" w="646764">
                <a:moveTo>
                  <a:pt x="0" y="0"/>
                </a:moveTo>
                <a:lnTo>
                  <a:pt x="0" y="4968708"/>
                </a:lnTo>
                <a:cubicBezTo>
                  <a:pt x="0" y="5094960"/>
                  <a:pt x="102348" y="5197308"/>
                  <a:pt x="228600" y="5197308"/>
                </a:cubicBezTo>
                <a:lnTo>
                  <a:pt x="646764" y="519730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8947068" y="7837097"/>
            <a:ext cx="5864499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Then, the Combined Vector Field can be given 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09296" y="2034951"/>
            <a:ext cx="1518305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3D Case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439364" y="4341593"/>
            <a:ext cx="2089869" cy="1408390"/>
          </a:xfrm>
          <a:custGeom>
            <a:avLst/>
            <a:gdLst/>
            <a:ahLst/>
            <a:cxnLst/>
            <a:rect r="r" b="b" t="t" l="l"/>
            <a:pathLst>
              <a:path h="1408390" w="2089869">
                <a:moveTo>
                  <a:pt x="0" y="0"/>
                </a:moveTo>
                <a:lnTo>
                  <a:pt x="2089869" y="0"/>
                </a:lnTo>
                <a:lnTo>
                  <a:pt x="2089869" y="1408390"/>
                </a:lnTo>
                <a:lnTo>
                  <a:pt x="0" y="1408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03676" y="6294249"/>
            <a:ext cx="2104960" cy="1352349"/>
          </a:xfrm>
          <a:custGeom>
            <a:avLst/>
            <a:gdLst/>
            <a:ahLst/>
            <a:cxnLst/>
            <a:rect r="r" b="b" t="t" l="l"/>
            <a:pathLst>
              <a:path h="1352349" w="2104960">
                <a:moveTo>
                  <a:pt x="0" y="0"/>
                </a:moveTo>
                <a:lnTo>
                  <a:pt x="2104960" y="0"/>
                </a:lnTo>
                <a:lnTo>
                  <a:pt x="2104960" y="1352348"/>
                </a:lnTo>
                <a:lnTo>
                  <a:pt x="0" y="1352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88116" y="8367322"/>
            <a:ext cx="5792365" cy="1243364"/>
          </a:xfrm>
          <a:custGeom>
            <a:avLst/>
            <a:gdLst/>
            <a:ahLst/>
            <a:cxnLst/>
            <a:rect r="r" b="b" t="t" l="l"/>
            <a:pathLst>
              <a:path h="1243364" w="5792365">
                <a:moveTo>
                  <a:pt x="0" y="0"/>
                </a:moveTo>
                <a:lnTo>
                  <a:pt x="5792365" y="0"/>
                </a:lnTo>
                <a:lnTo>
                  <a:pt x="5792365" y="1243364"/>
                </a:lnTo>
                <a:lnTo>
                  <a:pt x="0" y="1243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028" r="0" b="-21084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0" y="15632"/>
            <a:ext cx="6858000" cy="10271368"/>
            <a:chOff x="0" y="0"/>
            <a:chExt cx="10160000" cy="152168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0000" cy="15216840"/>
            </a:xfrm>
            <a:custGeom>
              <a:avLst/>
              <a:gdLst/>
              <a:ahLst/>
              <a:cxnLst/>
              <a:rect r="r" b="b" t="t" l="l"/>
              <a:pathLst>
                <a:path h="1521684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5216840"/>
                  </a:lnTo>
                  <a:lnTo>
                    <a:pt x="0" y="15216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808" r="0" b="-9808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8924" y="5159361"/>
            <a:ext cx="8800376" cy="1445673"/>
          </a:xfrm>
          <a:custGeom>
            <a:avLst/>
            <a:gdLst/>
            <a:ahLst/>
            <a:cxnLst/>
            <a:rect r="r" b="b" t="t" l="l"/>
            <a:pathLst>
              <a:path h="1445673" w="8800376">
                <a:moveTo>
                  <a:pt x="0" y="0"/>
                </a:moveTo>
                <a:lnTo>
                  <a:pt x="8800376" y="0"/>
                </a:lnTo>
                <a:lnTo>
                  <a:pt x="8800376" y="1445673"/>
                </a:lnTo>
                <a:lnTo>
                  <a:pt x="0" y="1445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30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58924" y="6986034"/>
            <a:ext cx="6489492" cy="1426768"/>
          </a:xfrm>
          <a:custGeom>
            <a:avLst/>
            <a:gdLst/>
            <a:ahLst/>
            <a:cxnLst/>
            <a:rect r="r" b="b" t="t" l="l"/>
            <a:pathLst>
              <a:path h="1426768" w="6489492">
                <a:moveTo>
                  <a:pt x="0" y="0"/>
                </a:moveTo>
                <a:lnTo>
                  <a:pt x="6489492" y="0"/>
                </a:lnTo>
                <a:lnTo>
                  <a:pt x="6489492" y="1426768"/>
                </a:lnTo>
                <a:lnTo>
                  <a:pt x="0" y="1426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68431" y="3243790"/>
            <a:ext cx="5527677" cy="1707738"/>
          </a:xfrm>
          <a:custGeom>
            <a:avLst/>
            <a:gdLst/>
            <a:ahLst/>
            <a:cxnLst/>
            <a:rect r="r" b="b" t="t" l="l"/>
            <a:pathLst>
              <a:path h="1707738" w="5527677">
                <a:moveTo>
                  <a:pt x="0" y="0"/>
                </a:moveTo>
                <a:lnTo>
                  <a:pt x="5527677" y="0"/>
                </a:lnTo>
                <a:lnTo>
                  <a:pt x="5527677" y="1707737"/>
                </a:lnTo>
                <a:lnTo>
                  <a:pt x="0" y="1707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96108" y="3325388"/>
            <a:ext cx="3369254" cy="789003"/>
          </a:xfrm>
          <a:custGeom>
            <a:avLst/>
            <a:gdLst/>
            <a:ahLst/>
            <a:cxnLst/>
            <a:rect r="r" b="b" t="t" l="l"/>
            <a:pathLst>
              <a:path h="789003" w="3369254">
                <a:moveTo>
                  <a:pt x="0" y="0"/>
                </a:moveTo>
                <a:lnTo>
                  <a:pt x="3369255" y="0"/>
                </a:lnTo>
                <a:lnTo>
                  <a:pt x="3369255" y="789003"/>
                </a:lnTo>
                <a:lnTo>
                  <a:pt x="0" y="789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49266" y="4114391"/>
            <a:ext cx="1623387" cy="432135"/>
          </a:xfrm>
          <a:custGeom>
            <a:avLst/>
            <a:gdLst/>
            <a:ahLst/>
            <a:cxnLst/>
            <a:rect r="r" b="b" t="t" l="l"/>
            <a:pathLst>
              <a:path h="432135" w="1623387">
                <a:moveTo>
                  <a:pt x="0" y="0"/>
                </a:moveTo>
                <a:lnTo>
                  <a:pt x="1623387" y="0"/>
                </a:lnTo>
                <a:lnTo>
                  <a:pt x="1623387" y="432134"/>
                </a:lnTo>
                <a:lnTo>
                  <a:pt x="0" y="432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23" t="0" r="-92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99771" y="572863"/>
            <a:ext cx="826118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Controller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99771" y="1346954"/>
            <a:ext cx="9559529" cy="9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Saturated PD course controller and saturated PD course and climb controller are formalized respectively for the 2D and 3D, to follow the path described by the  derived Combined Vector Field.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99771" y="2667642"/>
            <a:ext cx="1518305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2D Case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0"/>
            <a:ext cx="6858000" cy="10295045"/>
            <a:chOff x="0" y="0"/>
            <a:chExt cx="10160000" cy="152519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0" cy="15251919"/>
            </a:xfrm>
            <a:custGeom>
              <a:avLst/>
              <a:gdLst/>
              <a:ahLst/>
              <a:cxnLst/>
              <a:rect r="r" b="b" t="t" l="l"/>
              <a:pathLst>
                <a:path h="15251919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5251919"/>
                  </a:lnTo>
                  <a:lnTo>
                    <a:pt x="0" y="1525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9671" r="0" b="-967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8924" y="1780710"/>
            <a:ext cx="4718005" cy="2901947"/>
          </a:xfrm>
          <a:custGeom>
            <a:avLst/>
            <a:gdLst/>
            <a:ahLst/>
            <a:cxnLst/>
            <a:rect r="r" b="b" t="t" l="l"/>
            <a:pathLst>
              <a:path h="2901947" w="4718005">
                <a:moveTo>
                  <a:pt x="0" y="0"/>
                </a:moveTo>
                <a:lnTo>
                  <a:pt x="4718005" y="0"/>
                </a:lnTo>
                <a:lnTo>
                  <a:pt x="4718005" y="2901947"/>
                </a:lnTo>
                <a:lnTo>
                  <a:pt x="0" y="2901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72476" y="5143500"/>
            <a:ext cx="3085070" cy="1006001"/>
          </a:xfrm>
          <a:custGeom>
            <a:avLst/>
            <a:gdLst/>
            <a:ahLst/>
            <a:cxnLst/>
            <a:rect r="r" b="b" t="t" l="l"/>
            <a:pathLst>
              <a:path h="1006001" w="3085070">
                <a:moveTo>
                  <a:pt x="0" y="0"/>
                </a:moveTo>
                <a:lnTo>
                  <a:pt x="3085070" y="0"/>
                </a:lnTo>
                <a:lnTo>
                  <a:pt x="3085070" y="1006001"/>
                </a:lnTo>
                <a:lnTo>
                  <a:pt x="0" y="1006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76929" y="2003413"/>
            <a:ext cx="4283699" cy="392530"/>
          </a:xfrm>
          <a:custGeom>
            <a:avLst/>
            <a:gdLst/>
            <a:ahLst/>
            <a:cxnLst/>
            <a:rect r="r" b="b" t="t" l="l"/>
            <a:pathLst>
              <a:path h="392530" w="4283699">
                <a:moveTo>
                  <a:pt x="0" y="0"/>
                </a:moveTo>
                <a:lnTo>
                  <a:pt x="4283699" y="0"/>
                </a:lnTo>
                <a:lnTo>
                  <a:pt x="4283699" y="392530"/>
                </a:lnTo>
                <a:lnTo>
                  <a:pt x="0" y="392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72476" y="6359051"/>
            <a:ext cx="6346302" cy="2639772"/>
          </a:xfrm>
          <a:custGeom>
            <a:avLst/>
            <a:gdLst/>
            <a:ahLst/>
            <a:cxnLst/>
            <a:rect r="r" b="b" t="t" l="l"/>
            <a:pathLst>
              <a:path h="2639772" w="6346302">
                <a:moveTo>
                  <a:pt x="0" y="0"/>
                </a:moveTo>
                <a:lnTo>
                  <a:pt x="6346302" y="0"/>
                </a:lnTo>
                <a:lnTo>
                  <a:pt x="6346302" y="2639772"/>
                </a:lnTo>
                <a:lnTo>
                  <a:pt x="0" y="26397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99771" y="572863"/>
            <a:ext cx="826118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Controller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99771" y="1185638"/>
            <a:ext cx="1518305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3D Case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-31711"/>
            <a:ext cx="6858000" cy="10271368"/>
            <a:chOff x="0" y="0"/>
            <a:chExt cx="10160000" cy="152168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0" cy="15216840"/>
            </a:xfrm>
            <a:custGeom>
              <a:avLst/>
              <a:gdLst/>
              <a:ahLst/>
              <a:cxnLst/>
              <a:rect r="r" b="b" t="t" l="l"/>
              <a:pathLst>
                <a:path h="1521684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5216840"/>
                  </a:lnTo>
                  <a:lnTo>
                    <a:pt x="0" y="15216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808" r="0" b="-9808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60606" y="312006"/>
            <a:ext cx="7094425" cy="4558168"/>
          </a:xfrm>
          <a:custGeom>
            <a:avLst/>
            <a:gdLst/>
            <a:ahLst/>
            <a:cxnLst/>
            <a:rect r="r" b="b" t="t" l="l"/>
            <a:pathLst>
              <a:path h="4558168" w="7094425">
                <a:moveTo>
                  <a:pt x="0" y="0"/>
                </a:moveTo>
                <a:lnTo>
                  <a:pt x="7094425" y="0"/>
                </a:lnTo>
                <a:lnTo>
                  <a:pt x="7094425" y="4558168"/>
                </a:lnTo>
                <a:lnTo>
                  <a:pt x="0" y="4558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60606" y="5322250"/>
            <a:ext cx="7094425" cy="4637981"/>
          </a:xfrm>
          <a:custGeom>
            <a:avLst/>
            <a:gdLst/>
            <a:ahLst/>
            <a:cxnLst/>
            <a:rect r="r" b="b" t="t" l="l"/>
            <a:pathLst>
              <a:path h="4637981" w="7094425">
                <a:moveTo>
                  <a:pt x="0" y="0"/>
                </a:moveTo>
                <a:lnTo>
                  <a:pt x="7094425" y="0"/>
                </a:lnTo>
                <a:lnTo>
                  <a:pt x="7094425" y="4637981"/>
                </a:lnTo>
                <a:lnTo>
                  <a:pt x="0" y="46379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00024" y="2916070"/>
            <a:ext cx="6459403" cy="2226010"/>
          </a:xfrm>
          <a:custGeom>
            <a:avLst/>
            <a:gdLst/>
            <a:ahLst/>
            <a:cxnLst/>
            <a:rect r="r" b="b" t="t" l="l"/>
            <a:pathLst>
              <a:path h="2226010" w="6459403">
                <a:moveTo>
                  <a:pt x="0" y="0"/>
                </a:moveTo>
                <a:lnTo>
                  <a:pt x="6459403" y="0"/>
                </a:lnTo>
                <a:lnTo>
                  <a:pt x="6459403" y="2226010"/>
                </a:lnTo>
                <a:lnTo>
                  <a:pt x="0" y="2226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2925" y="6351755"/>
            <a:ext cx="8572739" cy="1603032"/>
          </a:xfrm>
          <a:custGeom>
            <a:avLst/>
            <a:gdLst/>
            <a:ahLst/>
            <a:cxnLst/>
            <a:rect r="r" b="b" t="t" l="l"/>
            <a:pathLst>
              <a:path h="1603032" w="8572739">
                <a:moveTo>
                  <a:pt x="0" y="0"/>
                </a:moveTo>
                <a:lnTo>
                  <a:pt x="8572739" y="0"/>
                </a:lnTo>
                <a:lnTo>
                  <a:pt x="8572739" y="1603032"/>
                </a:lnTo>
                <a:lnTo>
                  <a:pt x="0" y="1603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08025"/>
            <a:ext cx="826118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20800"/>
            <a:ext cx="4439711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2D Path Following with CVF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685925"/>
            <a:ext cx="443971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Star Curve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08025"/>
            <a:ext cx="826118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20800"/>
            <a:ext cx="4439711" cy="38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2D Path Following with CVF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85925"/>
            <a:ext cx="4439711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Star Curve</a:t>
            </a:r>
          </a:p>
        </p:txBody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7571" t="2050" r="7571" b="3649"/>
          <a:stretch>
            <a:fillRect/>
          </a:stretch>
        </p:blipFill>
        <p:spPr>
          <a:xfrm flipH="false" flipV="false" rot="0">
            <a:off x="4329894" y="2378075"/>
            <a:ext cx="9628212" cy="6419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39621" y="262927"/>
            <a:ext cx="6570901" cy="5400223"/>
          </a:xfrm>
          <a:custGeom>
            <a:avLst/>
            <a:gdLst/>
            <a:ahLst/>
            <a:cxnLst/>
            <a:rect r="r" b="b" t="t" l="l"/>
            <a:pathLst>
              <a:path h="5400223" w="6570901">
                <a:moveTo>
                  <a:pt x="0" y="0"/>
                </a:moveTo>
                <a:lnTo>
                  <a:pt x="6570901" y="0"/>
                </a:lnTo>
                <a:lnTo>
                  <a:pt x="6570901" y="5400222"/>
                </a:lnTo>
                <a:lnTo>
                  <a:pt x="0" y="5400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39621" y="5842296"/>
            <a:ext cx="6570901" cy="4262872"/>
          </a:xfrm>
          <a:custGeom>
            <a:avLst/>
            <a:gdLst/>
            <a:ahLst/>
            <a:cxnLst/>
            <a:rect r="r" b="b" t="t" l="l"/>
            <a:pathLst>
              <a:path h="4262872" w="6570901">
                <a:moveTo>
                  <a:pt x="0" y="0"/>
                </a:moveTo>
                <a:lnTo>
                  <a:pt x="6570901" y="0"/>
                </a:lnTo>
                <a:lnTo>
                  <a:pt x="6570901" y="4262871"/>
                </a:lnTo>
                <a:lnTo>
                  <a:pt x="0" y="4262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67136" y="2923458"/>
            <a:ext cx="4002550" cy="1495690"/>
          </a:xfrm>
          <a:custGeom>
            <a:avLst/>
            <a:gdLst/>
            <a:ahLst/>
            <a:cxnLst/>
            <a:rect r="r" b="b" t="t" l="l"/>
            <a:pathLst>
              <a:path h="1495690" w="4002550">
                <a:moveTo>
                  <a:pt x="0" y="0"/>
                </a:moveTo>
                <a:lnTo>
                  <a:pt x="4002550" y="0"/>
                </a:lnTo>
                <a:lnTo>
                  <a:pt x="4002550" y="1495690"/>
                </a:lnTo>
                <a:lnTo>
                  <a:pt x="0" y="1495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9574" y="5842296"/>
            <a:ext cx="8658742" cy="1850806"/>
          </a:xfrm>
          <a:custGeom>
            <a:avLst/>
            <a:gdLst/>
            <a:ahLst/>
            <a:cxnLst/>
            <a:rect r="r" b="b" t="t" l="l"/>
            <a:pathLst>
              <a:path h="1850806" w="8658742">
                <a:moveTo>
                  <a:pt x="0" y="0"/>
                </a:moveTo>
                <a:lnTo>
                  <a:pt x="8658742" y="0"/>
                </a:lnTo>
                <a:lnTo>
                  <a:pt x="8658742" y="1850806"/>
                </a:lnTo>
                <a:lnTo>
                  <a:pt x="0" y="18508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08025"/>
            <a:ext cx="826118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330325"/>
            <a:ext cx="4439711" cy="676275"/>
            <a:chOff x="0" y="0"/>
            <a:chExt cx="5919614" cy="90169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5919614" cy="509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5"/>
                </a:lnSpc>
              </a:pPr>
              <a:r>
                <a:rPr lang="en-US" sz="250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3D Path Following with CVF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0483"/>
              <a:ext cx="5919614" cy="421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Helix Curve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329" t="0" r="329" b="0"/>
          <a:stretch>
            <a:fillRect/>
          </a:stretch>
        </p:blipFill>
        <p:spPr>
          <a:xfrm flipH="false" flipV="false" rot="0">
            <a:off x="4787673" y="3026955"/>
            <a:ext cx="9004431" cy="558274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708025"/>
            <a:ext cx="8261188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330325"/>
            <a:ext cx="4439711" cy="676275"/>
            <a:chOff x="0" y="0"/>
            <a:chExt cx="5919614" cy="9016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5919614" cy="5090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5"/>
                </a:lnSpc>
              </a:pPr>
              <a:r>
                <a:rPr lang="en-US" sz="250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3D Path Following with CVF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80483"/>
              <a:ext cx="5919614" cy="421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Helix Curve</a:t>
              </a: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59501" y="617591"/>
            <a:ext cx="6441019" cy="5634273"/>
            <a:chOff x="0" y="0"/>
            <a:chExt cx="24384000" cy="213298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329873"/>
            </a:xfrm>
            <a:custGeom>
              <a:avLst/>
              <a:gdLst/>
              <a:ahLst/>
              <a:cxnLst/>
              <a:rect r="r" b="b" t="t" l="l"/>
              <a:pathLst>
                <a:path h="2132987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329873"/>
                  </a:lnTo>
                  <a:lnTo>
                    <a:pt x="0" y="21329873"/>
                  </a:lnTo>
                  <a:close/>
                </a:path>
              </a:pathLst>
            </a:custGeom>
            <a:blipFill>
              <a:blip r:embed="rId2"/>
              <a:stretch>
                <a:fillRect l="0" t="-96" r="0" b="-9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34330" y="3869846"/>
            <a:ext cx="6749692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193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Model forces and moments on the quadrotor, considering propeller thrust and drag.</a:t>
            </a:r>
          </a:p>
        </p:txBody>
      </p:sp>
      <p:sp>
        <p:nvSpPr>
          <p:cNvPr name="Freeform 5" id="5"/>
          <p:cNvSpPr/>
          <p:nvPr/>
        </p:nvSpPr>
        <p:spPr>
          <a:xfrm>
            <a:off x="1489746" y="3705355"/>
            <a:ext cx="544584" cy="589941"/>
          </a:xfrm>
          <a:custGeom>
            <a:avLst/>
            <a:gdLst/>
            <a:ahLst/>
            <a:cxnLst/>
            <a:rect r="r" b="b" t="t" l="l"/>
            <a:pathLst>
              <a:path h="589941" w="544584">
                <a:moveTo>
                  <a:pt x="0" y="0"/>
                </a:moveTo>
                <a:lnTo>
                  <a:pt x="0" y="361341"/>
                </a:lnTo>
                <a:cubicBezTo>
                  <a:pt x="0" y="487593"/>
                  <a:pt x="102347" y="589941"/>
                  <a:pt x="228600" y="589941"/>
                </a:cubicBezTo>
                <a:lnTo>
                  <a:pt x="544584" y="58994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1508796" y="4000630"/>
            <a:ext cx="525534" cy="2380248"/>
          </a:xfrm>
          <a:custGeom>
            <a:avLst/>
            <a:gdLst/>
            <a:ahLst/>
            <a:cxnLst/>
            <a:rect r="r" b="b" t="t" l="l"/>
            <a:pathLst>
              <a:path h="2380248" w="525534">
                <a:moveTo>
                  <a:pt x="0" y="0"/>
                </a:moveTo>
                <a:lnTo>
                  <a:pt x="0" y="2151648"/>
                </a:lnTo>
                <a:cubicBezTo>
                  <a:pt x="0" y="2277900"/>
                  <a:pt x="102347" y="2380248"/>
                  <a:pt x="228600" y="2380248"/>
                </a:cubicBezTo>
                <a:lnTo>
                  <a:pt x="525534" y="238024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>
            <a:off x="1497725" y="3781555"/>
            <a:ext cx="536605" cy="1547826"/>
          </a:xfrm>
          <a:custGeom>
            <a:avLst/>
            <a:gdLst/>
            <a:ahLst/>
            <a:cxnLst/>
            <a:rect r="r" b="b" t="t" l="l"/>
            <a:pathLst>
              <a:path h="1547826" w="536605">
                <a:moveTo>
                  <a:pt x="0" y="0"/>
                </a:moveTo>
                <a:lnTo>
                  <a:pt x="0" y="1319226"/>
                </a:lnTo>
                <a:cubicBezTo>
                  <a:pt x="0" y="1379855"/>
                  <a:pt x="24085" y="1438000"/>
                  <a:pt x="66956" y="1480871"/>
                </a:cubicBezTo>
                <a:cubicBezTo>
                  <a:pt x="109826" y="1523742"/>
                  <a:pt x="167972" y="1547826"/>
                  <a:pt x="228600" y="1547826"/>
                </a:cubicBezTo>
                <a:lnTo>
                  <a:pt x="536605" y="1547826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957379" y="7068102"/>
            <a:ext cx="3922632" cy="1351495"/>
          </a:xfrm>
          <a:custGeom>
            <a:avLst/>
            <a:gdLst/>
            <a:ahLst/>
            <a:cxnLst/>
            <a:rect r="r" b="b" t="t" l="l"/>
            <a:pathLst>
              <a:path h="1351495" w="3922632">
                <a:moveTo>
                  <a:pt x="0" y="0"/>
                </a:moveTo>
                <a:lnTo>
                  <a:pt x="3922631" y="0"/>
                </a:lnTo>
                <a:lnTo>
                  <a:pt x="3922631" y="1351495"/>
                </a:lnTo>
                <a:lnTo>
                  <a:pt x="0" y="1351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18902" y="8495797"/>
            <a:ext cx="3561109" cy="1316638"/>
          </a:xfrm>
          <a:custGeom>
            <a:avLst/>
            <a:gdLst/>
            <a:ahLst/>
            <a:cxnLst/>
            <a:rect r="r" b="b" t="t" l="l"/>
            <a:pathLst>
              <a:path h="1316638" w="3561109">
                <a:moveTo>
                  <a:pt x="0" y="0"/>
                </a:moveTo>
                <a:lnTo>
                  <a:pt x="3561108" y="0"/>
                </a:lnTo>
                <a:lnTo>
                  <a:pt x="3561108" y="1316638"/>
                </a:lnTo>
                <a:lnTo>
                  <a:pt x="0" y="1316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1817" y="8304714"/>
            <a:ext cx="2350846" cy="1394106"/>
          </a:xfrm>
          <a:custGeom>
            <a:avLst/>
            <a:gdLst/>
            <a:ahLst/>
            <a:cxnLst/>
            <a:rect r="r" b="b" t="t" l="l"/>
            <a:pathLst>
              <a:path h="1394106" w="2350846">
                <a:moveTo>
                  <a:pt x="0" y="0"/>
                </a:moveTo>
                <a:lnTo>
                  <a:pt x="2350845" y="0"/>
                </a:lnTo>
                <a:lnTo>
                  <a:pt x="2350845" y="1394106"/>
                </a:lnTo>
                <a:lnTo>
                  <a:pt x="0" y="13941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46825" y="7071389"/>
            <a:ext cx="5284902" cy="2803461"/>
          </a:xfrm>
          <a:custGeom>
            <a:avLst/>
            <a:gdLst/>
            <a:ahLst/>
            <a:cxnLst/>
            <a:rect r="r" b="b" t="t" l="l"/>
            <a:pathLst>
              <a:path h="2803461" w="5284902">
                <a:moveTo>
                  <a:pt x="0" y="0"/>
                </a:moveTo>
                <a:lnTo>
                  <a:pt x="5284902" y="0"/>
                </a:lnTo>
                <a:lnTo>
                  <a:pt x="5284902" y="2803461"/>
                </a:lnTo>
                <a:lnTo>
                  <a:pt x="0" y="2803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0049" y="664518"/>
            <a:ext cx="9722777" cy="149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47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Validation of CVF Approach with Quadrotor Dynamics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0049" y="2152353"/>
            <a:ext cx="9722777" cy="79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Validation of CVF-based path following incorporates full quadrotor dynamics and Sliding Mode Controllers (SMC).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0049" y="3250353"/>
            <a:ext cx="3807262" cy="45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Quadrotor Dynamics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4330" y="5938017"/>
            <a:ext cx="6749692" cy="79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simplified version of the dynamics model is used to design the controller.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4330" y="4886520"/>
            <a:ext cx="6749692" cy="79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Full Quadrotor dynamics is used to estimating the states of the UAV, 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4114" y="6605375"/>
            <a:ext cx="4477703" cy="30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2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Full Non-Linear Quadrotor Dynamics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80010" y="8763693"/>
            <a:ext cx="609315" cy="39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0049" y="664518"/>
            <a:ext cx="9722777" cy="149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47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Validation of CVF Approach with Quadrotor Dynamics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419543" y="2766094"/>
            <a:ext cx="7001786" cy="5206788"/>
          </a:xfrm>
          <a:custGeom>
            <a:avLst/>
            <a:gdLst/>
            <a:ahLst/>
            <a:cxnLst/>
            <a:rect r="r" b="b" t="t" l="l"/>
            <a:pathLst>
              <a:path h="5206788" w="7001786">
                <a:moveTo>
                  <a:pt x="0" y="0"/>
                </a:moveTo>
                <a:lnTo>
                  <a:pt x="7001786" y="0"/>
                </a:lnTo>
                <a:lnTo>
                  <a:pt x="7001786" y="5206787"/>
                </a:lnTo>
                <a:lnTo>
                  <a:pt x="0" y="5206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" t="0" r="-344" b="-260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0049" y="2162084"/>
            <a:ext cx="3136940" cy="380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Simplified Dynamics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67979" y="5238713"/>
            <a:ext cx="7024409" cy="1619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switching function(discontinuous control) drives the UAV towards the sliding surface, and the equivalent control(continuous control) drives the UAV on the sliding surface towards the equilibrium.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9838" y="4114828"/>
            <a:ext cx="6586199" cy="79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Composed of continuous (Equivalent control) and discontinuous (Switching function) parts.</a:t>
            </a:r>
          </a:p>
        </p:txBody>
      </p:sp>
      <p:sp>
        <p:nvSpPr>
          <p:cNvPr name="Freeform 4" id="4"/>
          <p:cNvSpPr/>
          <p:nvPr/>
        </p:nvSpPr>
        <p:spPr>
          <a:xfrm>
            <a:off x="1320377" y="4067203"/>
            <a:ext cx="459460" cy="490486"/>
          </a:xfrm>
          <a:custGeom>
            <a:avLst/>
            <a:gdLst/>
            <a:ahLst/>
            <a:cxnLst/>
            <a:rect r="r" b="b" t="t" l="l"/>
            <a:pathLst>
              <a:path h="490486" w="459460">
                <a:moveTo>
                  <a:pt x="0" y="0"/>
                </a:moveTo>
                <a:lnTo>
                  <a:pt x="0" y="261886"/>
                </a:lnTo>
                <a:cubicBezTo>
                  <a:pt x="0" y="322514"/>
                  <a:pt x="24085" y="380660"/>
                  <a:pt x="66956" y="423531"/>
                </a:cubicBezTo>
                <a:cubicBezTo>
                  <a:pt x="109826" y="466401"/>
                  <a:pt x="167972" y="490486"/>
                  <a:pt x="228600" y="490486"/>
                </a:cubicBezTo>
                <a:lnTo>
                  <a:pt x="459460" y="490486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1320377" y="4294560"/>
            <a:ext cx="447602" cy="1796588"/>
          </a:xfrm>
          <a:custGeom>
            <a:avLst/>
            <a:gdLst/>
            <a:ahLst/>
            <a:cxnLst/>
            <a:rect r="r" b="b" t="t" l="l"/>
            <a:pathLst>
              <a:path h="1796588" w="447602">
                <a:moveTo>
                  <a:pt x="19050" y="0"/>
                </a:moveTo>
                <a:lnTo>
                  <a:pt x="9525" y="0"/>
                </a:lnTo>
                <a:cubicBezTo>
                  <a:pt x="6999" y="0"/>
                  <a:pt x="4576" y="1004"/>
                  <a:pt x="2790" y="2790"/>
                </a:cubicBezTo>
                <a:cubicBezTo>
                  <a:pt x="1004" y="4576"/>
                  <a:pt x="0" y="6999"/>
                  <a:pt x="0" y="9525"/>
                </a:cubicBezTo>
                <a:lnTo>
                  <a:pt x="0" y="1572788"/>
                </a:lnTo>
                <a:cubicBezTo>
                  <a:pt x="0" y="1632143"/>
                  <a:pt x="23579" y="1689068"/>
                  <a:pt x="65550" y="1731039"/>
                </a:cubicBezTo>
                <a:cubicBezTo>
                  <a:pt x="107521" y="1773010"/>
                  <a:pt x="164445" y="1796589"/>
                  <a:pt x="223801" y="1796589"/>
                </a:cubicBezTo>
                <a:lnTo>
                  <a:pt x="447602" y="1796589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1320377" y="5637121"/>
            <a:ext cx="459460" cy="1987488"/>
          </a:xfrm>
          <a:custGeom>
            <a:avLst/>
            <a:gdLst/>
            <a:ahLst/>
            <a:cxnLst/>
            <a:rect r="r" b="b" t="t" l="l"/>
            <a:pathLst>
              <a:path h="1987488" w="459460">
                <a:moveTo>
                  <a:pt x="0" y="0"/>
                </a:moveTo>
                <a:lnTo>
                  <a:pt x="9525" y="0"/>
                </a:lnTo>
                <a:cubicBezTo>
                  <a:pt x="14786" y="0"/>
                  <a:pt x="19050" y="4264"/>
                  <a:pt x="19050" y="9525"/>
                </a:cubicBezTo>
                <a:lnTo>
                  <a:pt x="19050" y="1767283"/>
                </a:lnTo>
                <a:cubicBezTo>
                  <a:pt x="19050" y="1825685"/>
                  <a:pt x="42250" y="1881695"/>
                  <a:pt x="83547" y="1922991"/>
                </a:cubicBezTo>
                <a:cubicBezTo>
                  <a:pt x="124843" y="1964288"/>
                  <a:pt x="180853" y="1987488"/>
                  <a:pt x="239255" y="1987488"/>
                </a:cubicBezTo>
                <a:lnTo>
                  <a:pt x="459460" y="198748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320289" y="3088798"/>
            <a:ext cx="3280532" cy="978404"/>
          </a:xfrm>
          <a:custGeom>
            <a:avLst/>
            <a:gdLst/>
            <a:ahLst/>
            <a:cxnLst/>
            <a:rect r="r" b="b" t="t" l="l"/>
            <a:pathLst>
              <a:path h="978404" w="3280532">
                <a:moveTo>
                  <a:pt x="0" y="0"/>
                </a:moveTo>
                <a:lnTo>
                  <a:pt x="3280532" y="0"/>
                </a:lnTo>
                <a:lnTo>
                  <a:pt x="3280532" y="978405"/>
                </a:lnTo>
                <a:lnTo>
                  <a:pt x="0" y="978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90533" y="4557689"/>
            <a:ext cx="7268767" cy="1266675"/>
          </a:xfrm>
          <a:custGeom>
            <a:avLst/>
            <a:gdLst/>
            <a:ahLst/>
            <a:cxnLst/>
            <a:rect r="r" b="b" t="t" l="l"/>
            <a:pathLst>
              <a:path h="1266675" w="7268767">
                <a:moveTo>
                  <a:pt x="0" y="0"/>
                </a:moveTo>
                <a:lnTo>
                  <a:pt x="7268767" y="0"/>
                </a:lnTo>
                <a:lnTo>
                  <a:pt x="7268767" y="1266675"/>
                </a:lnTo>
                <a:lnTo>
                  <a:pt x="0" y="1266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20650" y="5502968"/>
            <a:ext cx="7138650" cy="2709784"/>
          </a:xfrm>
          <a:custGeom>
            <a:avLst/>
            <a:gdLst/>
            <a:ahLst/>
            <a:cxnLst/>
            <a:rect r="r" b="b" t="t" l="l"/>
            <a:pathLst>
              <a:path h="2709784" w="7138650">
                <a:moveTo>
                  <a:pt x="0" y="0"/>
                </a:moveTo>
                <a:lnTo>
                  <a:pt x="7138650" y="0"/>
                </a:lnTo>
                <a:lnTo>
                  <a:pt x="7138650" y="2709784"/>
                </a:lnTo>
                <a:lnTo>
                  <a:pt x="0" y="2709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51" t="0" r="-175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39454" y="7981746"/>
            <a:ext cx="6101042" cy="1473954"/>
          </a:xfrm>
          <a:custGeom>
            <a:avLst/>
            <a:gdLst/>
            <a:ahLst/>
            <a:cxnLst/>
            <a:rect r="r" b="b" t="t" l="l"/>
            <a:pathLst>
              <a:path h="1473954" w="6101042">
                <a:moveTo>
                  <a:pt x="0" y="0"/>
                </a:moveTo>
                <a:lnTo>
                  <a:pt x="6101042" y="0"/>
                </a:lnTo>
                <a:lnTo>
                  <a:pt x="6101042" y="1473953"/>
                </a:lnTo>
                <a:lnTo>
                  <a:pt x="0" y="14739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167" r="0" b="-2110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3686447"/>
            <a:ext cx="4251484" cy="380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Sliding Mode Control (SMC)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11387"/>
            <a:ext cx="9722777" cy="149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47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Validation of CVF Approach with Quadrotor Dynamics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7624" y="2208953"/>
            <a:ext cx="3347919" cy="45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Quadrotor Control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7624" y="2789683"/>
            <a:ext cx="7298412" cy="30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Six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Sliding Mode Controllers used for each degree of freedom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79838" y="7181747"/>
            <a:ext cx="6586199" cy="79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 a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parameter δ is included to reduce the chattering around the sliding surface.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4052" y="2698376"/>
            <a:ext cx="2467016" cy="39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PD Sliding Surface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4052" y="4056486"/>
            <a:ext cx="2467016" cy="39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0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Control Laws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05193" y="2833667"/>
            <a:ext cx="13077613" cy="7164126"/>
            <a:chOff x="0" y="0"/>
            <a:chExt cx="250376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3760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037605">
                  <a:moveTo>
                    <a:pt x="0" y="0"/>
                  </a:moveTo>
                  <a:lnTo>
                    <a:pt x="25037605" y="0"/>
                  </a:lnTo>
                  <a:lnTo>
                    <a:pt x="25037605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0" t="-85" r="0" b="-8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711387"/>
            <a:ext cx="9722777" cy="149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47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Validation of CVF Approach with Quadrotor Dynamics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08953"/>
            <a:ext cx="10694432" cy="380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Autonomous Guidance and Control Architecture of the  Full Quadrotor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45734" y="2813603"/>
            <a:ext cx="7796531" cy="1788616"/>
          </a:xfrm>
          <a:custGeom>
            <a:avLst/>
            <a:gdLst/>
            <a:ahLst/>
            <a:cxnLst/>
            <a:rect r="r" b="b" t="t" l="l"/>
            <a:pathLst>
              <a:path h="1788616" w="7796531">
                <a:moveTo>
                  <a:pt x="0" y="0"/>
                </a:moveTo>
                <a:lnTo>
                  <a:pt x="7796532" y="0"/>
                </a:lnTo>
                <a:lnTo>
                  <a:pt x="7796532" y="1788616"/>
                </a:lnTo>
                <a:lnTo>
                  <a:pt x="0" y="178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7966" y="1619559"/>
            <a:ext cx="5454253" cy="30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Q250 Quadrotor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is chosen for the Simulations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7966" y="2259443"/>
            <a:ext cx="6408301" cy="30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gain values for the particular Quadcopter taken as</a:t>
            </a:r>
          </a:p>
        </p:txBody>
      </p:sp>
      <p:sp>
        <p:nvSpPr>
          <p:cNvPr name="Freeform 5" id="5"/>
          <p:cNvSpPr/>
          <p:nvPr/>
        </p:nvSpPr>
        <p:spPr>
          <a:xfrm>
            <a:off x="1283475" y="1336943"/>
            <a:ext cx="424492" cy="440633"/>
          </a:xfrm>
          <a:custGeom>
            <a:avLst/>
            <a:gdLst/>
            <a:ahLst/>
            <a:cxnLst/>
            <a:rect r="r" b="b" t="t" l="l"/>
            <a:pathLst>
              <a:path h="440633" w="424492">
                <a:moveTo>
                  <a:pt x="0" y="0"/>
                </a:moveTo>
                <a:lnTo>
                  <a:pt x="0" y="228387"/>
                </a:lnTo>
                <a:cubicBezTo>
                  <a:pt x="0" y="284678"/>
                  <a:pt x="22361" y="338664"/>
                  <a:pt x="62165" y="378468"/>
                </a:cubicBezTo>
                <a:cubicBezTo>
                  <a:pt x="101969" y="418272"/>
                  <a:pt x="155954" y="440633"/>
                  <a:pt x="212246" y="440633"/>
                </a:cubicBezTo>
                <a:lnTo>
                  <a:pt x="424491" y="440633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1283475" y="1336943"/>
            <a:ext cx="424492" cy="1080517"/>
          </a:xfrm>
          <a:custGeom>
            <a:avLst/>
            <a:gdLst/>
            <a:ahLst/>
            <a:cxnLst/>
            <a:rect r="r" b="b" t="t" l="l"/>
            <a:pathLst>
              <a:path h="1080517" w="424492">
                <a:moveTo>
                  <a:pt x="0" y="0"/>
                </a:moveTo>
                <a:lnTo>
                  <a:pt x="0" y="868272"/>
                </a:lnTo>
                <a:cubicBezTo>
                  <a:pt x="0" y="924563"/>
                  <a:pt x="22361" y="978548"/>
                  <a:pt x="62165" y="1018352"/>
                </a:cubicBezTo>
                <a:cubicBezTo>
                  <a:pt x="101969" y="1058156"/>
                  <a:pt x="155954" y="1080518"/>
                  <a:pt x="212246" y="1080518"/>
                </a:cubicBezTo>
                <a:lnTo>
                  <a:pt x="424491" y="108051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>
            <a:off x="1283475" y="1777576"/>
            <a:ext cx="424492" cy="5982644"/>
          </a:xfrm>
          <a:custGeom>
            <a:avLst/>
            <a:gdLst/>
            <a:ahLst/>
            <a:cxnLst/>
            <a:rect r="r" b="b" t="t" l="l"/>
            <a:pathLst>
              <a:path h="5982644" w="424492">
                <a:moveTo>
                  <a:pt x="0" y="0"/>
                </a:moveTo>
                <a:lnTo>
                  <a:pt x="0" y="5770398"/>
                </a:lnTo>
                <a:cubicBezTo>
                  <a:pt x="0" y="5826689"/>
                  <a:pt x="22361" y="5880675"/>
                  <a:pt x="62165" y="5920479"/>
                </a:cubicBezTo>
                <a:cubicBezTo>
                  <a:pt x="101969" y="5960283"/>
                  <a:pt x="155954" y="5982644"/>
                  <a:pt x="212246" y="5982644"/>
                </a:cubicBezTo>
                <a:lnTo>
                  <a:pt x="424491" y="5982644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07966" y="6575669"/>
            <a:ext cx="11071001" cy="2369103"/>
          </a:xfrm>
          <a:custGeom>
            <a:avLst/>
            <a:gdLst/>
            <a:ahLst/>
            <a:cxnLst/>
            <a:rect r="r" b="b" t="t" l="l"/>
            <a:pathLst>
              <a:path h="2369103" w="11071001">
                <a:moveTo>
                  <a:pt x="0" y="0"/>
                </a:moveTo>
                <a:lnTo>
                  <a:pt x="11071001" y="0"/>
                </a:lnTo>
                <a:lnTo>
                  <a:pt x="11071001" y="2369103"/>
                </a:lnTo>
                <a:lnTo>
                  <a:pt x="0" y="236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711387"/>
            <a:ext cx="2974330" cy="62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4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15865" y="4836991"/>
            <a:ext cx="9736217" cy="30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k_D: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is the gain, which drives the UAV from arbitrary location to the Sliding Surface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15865" y="5133975"/>
            <a:ext cx="9292709" cy="30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λ: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is the gain, which drives the UAV from the Sliding Surface to the Eqlbm point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15865" y="5430959"/>
            <a:ext cx="6416754" cy="306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δ: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boundary layer thickness, used to reduce chattering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0488" y="3604913"/>
            <a:ext cx="11707024" cy="5999850"/>
          </a:xfrm>
          <a:custGeom>
            <a:avLst/>
            <a:gdLst/>
            <a:ahLst/>
            <a:cxnLst/>
            <a:rect r="r" b="b" t="t" l="l"/>
            <a:pathLst>
              <a:path h="5999850" w="11707024">
                <a:moveTo>
                  <a:pt x="0" y="0"/>
                </a:moveTo>
                <a:lnTo>
                  <a:pt x="11707024" y="0"/>
                </a:lnTo>
                <a:lnTo>
                  <a:pt x="11707024" y="5999850"/>
                </a:lnTo>
                <a:lnTo>
                  <a:pt x="0" y="599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30409"/>
            <a:ext cx="6164166" cy="861026"/>
          </a:xfrm>
          <a:custGeom>
            <a:avLst/>
            <a:gdLst/>
            <a:ahLst/>
            <a:cxnLst/>
            <a:rect r="r" b="b" t="t" l="l"/>
            <a:pathLst>
              <a:path h="861026" w="6164166">
                <a:moveTo>
                  <a:pt x="0" y="0"/>
                </a:moveTo>
                <a:lnTo>
                  <a:pt x="6164166" y="0"/>
                </a:lnTo>
                <a:lnTo>
                  <a:pt x="6164166" y="861027"/>
                </a:lnTo>
                <a:lnTo>
                  <a:pt x="0" y="861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49665" y="1707482"/>
            <a:ext cx="5887435" cy="1306881"/>
          </a:xfrm>
          <a:custGeom>
            <a:avLst/>
            <a:gdLst/>
            <a:ahLst/>
            <a:cxnLst/>
            <a:rect r="r" b="b" t="t" l="l"/>
            <a:pathLst>
              <a:path h="1306881" w="5887435">
                <a:moveTo>
                  <a:pt x="0" y="0"/>
                </a:moveTo>
                <a:lnTo>
                  <a:pt x="5887435" y="0"/>
                </a:lnTo>
                <a:lnTo>
                  <a:pt x="5887435" y="1306881"/>
                </a:lnTo>
                <a:lnTo>
                  <a:pt x="0" y="1306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11387"/>
            <a:ext cx="2974330" cy="62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4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17893"/>
            <a:ext cx="4459065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2D Loiter Path Following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1387"/>
            <a:ext cx="2974330" cy="62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4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17893"/>
            <a:ext cx="4459065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2D Loiter Path Following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620956"/>
            <a:ext cx="7910670" cy="5507804"/>
          </a:xfrm>
          <a:custGeom>
            <a:avLst/>
            <a:gdLst/>
            <a:ahLst/>
            <a:cxnLst/>
            <a:rect r="r" b="b" t="t" l="l"/>
            <a:pathLst>
              <a:path h="5507804" w="7910670">
                <a:moveTo>
                  <a:pt x="0" y="0"/>
                </a:moveTo>
                <a:lnTo>
                  <a:pt x="7910670" y="0"/>
                </a:lnTo>
                <a:lnTo>
                  <a:pt x="7910670" y="5507804"/>
                </a:lnTo>
                <a:lnTo>
                  <a:pt x="0" y="550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88492" y="2514352"/>
            <a:ext cx="7770808" cy="5614409"/>
          </a:xfrm>
          <a:custGeom>
            <a:avLst/>
            <a:gdLst/>
            <a:ahLst/>
            <a:cxnLst/>
            <a:rect r="r" b="b" t="t" l="l"/>
            <a:pathLst>
              <a:path h="5614409" w="7770808">
                <a:moveTo>
                  <a:pt x="0" y="0"/>
                </a:moveTo>
                <a:lnTo>
                  <a:pt x="7770808" y="0"/>
                </a:lnTo>
                <a:lnTo>
                  <a:pt x="7770808" y="5614408"/>
                </a:lnTo>
                <a:lnTo>
                  <a:pt x="0" y="5614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20994"/>
            <a:ext cx="6902126" cy="1407559"/>
          </a:xfrm>
          <a:custGeom>
            <a:avLst/>
            <a:gdLst/>
            <a:ahLst/>
            <a:cxnLst/>
            <a:rect r="r" b="b" t="t" l="l"/>
            <a:pathLst>
              <a:path h="1407559" w="6902126">
                <a:moveTo>
                  <a:pt x="0" y="0"/>
                </a:moveTo>
                <a:lnTo>
                  <a:pt x="6902126" y="0"/>
                </a:lnTo>
                <a:lnTo>
                  <a:pt x="6902126" y="1407559"/>
                </a:lnTo>
                <a:lnTo>
                  <a:pt x="0" y="1407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5133" y="3732744"/>
            <a:ext cx="7709259" cy="1293414"/>
          </a:xfrm>
          <a:custGeom>
            <a:avLst/>
            <a:gdLst/>
            <a:ahLst/>
            <a:cxnLst/>
            <a:rect r="r" b="b" t="t" l="l"/>
            <a:pathLst>
              <a:path h="1293414" w="7709259">
                <a:moveTo>
                  <a:pt x="0" y="0"/>
                </a:moveTo>
                <a:lnTo>
                  <a:pt x="7709259" y="0"/>
                </a:lnTo>
                <a:lnTo>
                  <a:pt x="7709259" y="1293414"/>
                </a:lnTo>
                <a:lnTo>
                  <a:pt x="0" y="1293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09638" y="2020994"/>
            <a:ext cx="7767791" cy="6010328"/>
          </a:xfrm>
          <a:custGeom>
            <a:avLst/>
            <a:gdLst/>
            <a:ahLst/>
            <a:cxnLst/>
            <a:rect r="r" b="b" t="t" l="l"/>
            <a:pathLst>
              <a:path h="6010328" w="7767791">
                <a:moveTo>
                  <a:pt x="0" y="0"/>
                </a:moveTo>
                <a:lnTo>
                  <a:pt x="7767791" y="0"/>
                </a:lnTo>
                <a:lnTo>
                  <a:pt x="7767791" y="6010328"/>
                </a:lnTo>
                <a:lnTo>
                  <a:pt x="0" y="6010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11387"/>
            <a:ext cx="2974330" cy="62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4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17893"/>
            <a:ext cx="5686055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3D Inclined Circle Path Following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87743"/>
            <a:ext cx="7831637" cy="5511514"/>
          </a:xfrm>
          <a:custGeom>
            <a:avLst/>
            <a:gdLst/>
            <a:ahLst/>
            <a:cxnLst/>
            <a:rect r="r" b="b" t="t" l="l"/>
            <a:pathLst>
              <a:path h="5511514" w="7831637">
                <a:moveTo>
                  <a:pt x="0" y="0"/>
                </a:moveTo>
                <a:lnTo>
                  <a:pt x="7831637" y="0"/>
                </a:lnTo>
                <a:lnTo>
                  <a:pt x="7831637" y="5511514"/>
                </a:lnTo>
                <a:lnTo>
                  <a:pt x="0" y="5511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4605" y="2387743"/>
            <a:ext cx="7628393" cy="5511514"/>
          </a:xfrm>
          <a:custGeom>
            <a:avLst/>
            <a:gdLst/>
            <a:ahLst/>
            <a:cxnLst/>
            <a:rect r="r" b="b" t="t" l="l"/>
            <a:pathLst>
              <a:path h="5511514" w="7628393">
                <a:moveTo>
                  <a:pt x="0" y="0"/>
                </a:moveTo>
                <a:lnTo>
                  <a:pt x="7628393" y="0"/>
                </a:lnTo>
                <a:lnTo>
                  <a:pt x="7628393" y="5511514"/>
                </a:lnTo>
                <a:lnTo>
                  <a:pt x="0" y="5511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11387"/>
            <a:ext cx="2974330" cy="62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4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17893"/>
            <a:ext cx="5686055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3D Inclined Circle Path Following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03629" y="1757313"/>
            <a:ext cx="7334774" cy="6908883"/>
          </a:xfrm>
          <a:custGeom>
            <a:avLst/>
            <a:gdLst/>
            <a:ahLst/>
            <a:cxnLst/>
            <a:rect r="r" b="b" t="t" l="l"/>
            <a:pathLst>
              <a:path h="6908883" w="7334774">
                <a:moveTo>
                  <a:pt x="0" y="0"/>
                </a:moveTo>
                <a:lnTo>
                  <a:pt x="7334774" y="0"/>
                </a:lnTo>
                <a:lnTo>
                  <a:pt x="7334774" y="6908883"/>
                </a:lnTo>
                <a:lnTo>
                  <a:pt x="0" y="6908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5773" y="2047522"/>
            <a:ext cx="5040343" cy="1395467"/>
          </a:xfrm>
          <a:custGeom>
            <a:avLst/>
            <a:gdLst/>
            <a:ahLst/>
            <a:cxnLst/>
            <a:rect r="r" b="b" t="t" l="l"/>
            <a:pathLst>
              <a:path h="1395467" w="5040343">
                <a:moveTo>
                  <a:pt x="0" y="0"/>
                </a:moveTo>
                <a:lnTo>
                  <a:pt x="5040344" y="0"/>
                </a:lnTo>
                <a:lnTo>
                  <a:pt x="5040344" y="1395467"/>
                </a:lnTo>
                <a:lnTo>
                  <a:pt x="0" y="139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442989"/>
            <a:ext cx="10044167" cy="1415726"/>
          </a:xfrm>
          <a:custGeom>
            <a:avLst/>
            <a:gdLst/>
            <a:ahLst/>
            <a:cxnLst/>
            <a:rect r="r" b="b" t="t" l="l"/>
            <a:pathLst>
              <a:path h="1415726" w="10044167">
                <a:moveTo>
                  <a:pt x="0" y="0"/>
                </a:moveTo>
                <a:lnTo>
                  <a:pt x="10044167" y="0"/>
                </a:lnTo>
                <a:lnTo>
                  <a:pt x="10044167" y="1415726"/>
                </a:lnTo>
                <a:lnTo>
                  <a:pt x="0" y="141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9" r="0" b="-13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903401"/>
            <a:ext cx="8311108" cy="1287847"/>
          </a:xfrm>
          <a:custGeom>
            <a:avLst/>
            <a:gdLst/>
            <a:ahLst/>
            <a:cxnLst/>
            <a:rect r="r" b="b" t="t" l="l"/>
            <a:pathLst>
              <a:path h="1287847" w="8311108">
                <a:moveTo>
                  <a:pt x="0" y="0"/>
                </a:moveTo>
                <a:lnTo>
                  <a:pt x="8311108" y="0"/>
                </a:lnTo>
                <a:lnTo>
                  <a:pt x="8311108" y="1287848"/>
                </a:lnTo>
                <a:lnTo>
                  <a:pt x="0" y="1287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11387"/>
            <a:ext cx="2974330" cy="62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4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17893"/>
            <a:ext cx="6504049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3D Inclined Star Curve Path Following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1387"/>
            <a:ext cx="2974330" cy="62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4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Simulations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17893"/>
            <a:ext cx="6504049" cy="43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3D Inclined Star Curve Path Following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782451"/>
            <a:ext cx="7949311" cy="5077623"/>
          </a:xfrm>
          <a:custGeom>
            <a:avLst/>
            <a:gdLst/>
            <a:ahLst/>
            <a:cxnLst/>
            <a:rect r="r" b="b" t="t" l="l"/>
            <a:pathLst>
              <a:path h="5077623" w="7949311">
                <a:moveTo>
                  <a:pt x="0" y="0"/>
                </a:moveTo>
                <a:lnTo>
                  <a:pt x="7949311" y="0"/>
                </a:lnTo>
                <a:lnTo>
                  <a:pt x="7949311" y="5077623"/>
                </a:lnTo>
                <a:lnTo>
                  <a:pt x="0" y="5077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40980" y="2782451"/>
            <a:ext cx="7918320" cy="5077623"/>
          </a:xfrm>
          <a:custGeom>
            <a:avLst/>
            <a:gdLst/>
            <a:ahLst/>
            <a:cxnLst/>
            <a:rect r="r" b="b" t="t" l="l"/>
            <a:pathLst>
              <a:path h="5077623" w="7918320">
                <a:moveTo>
                  <a:pt x="0" y="0"/>
                </a:moveTo>
                <a:lnTo>
                  <a:pt x="7918320" y="0"/>
                </a:lnTo>
                <a:lnTo>
                  <a:pt x="7918320" y="5077623"/>
                </a:lnTo>
                <a:lnTo>
                  <a:pt x="0" y="5077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94531" y="-2165373"/>
            <a:ext cx="9954279" cy="12640576"/>
          </a:xfrm>
          <a:custGeom>
            <a:avLst/>
            <a:gdLst/>
            <a:ahLst/>
            <a:cxnLst/>
            <a:rect r="r" b="b" t="t" l="l"/>
            <a:pathLst>
              <a:path h="12640576" w="9954279">
                <a:moveTo>
                  <a:pt x="0" y="0"/>
                </a:moveTo>
                <a:lnTo>
                  <a:pt x="9954279" y="0"/>
                </a:lnTo>
                <a:lnTo>
                  <a:pt x="9954279" y="12640576"/>
                </a:lnTo>
                <a:lnTo>
                  <a:pt x="0" y="12640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02" t="0" r="-1848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8813389" cy="149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477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Limitations of the Combined Vector Field 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468466"/>
            <a:ext cx="7637186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Very dependent on the scaling of the desired path function. (f = 0 and λf = 0 does not result same behaviour)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19060"/>
            <a:ext cx="7637186" cy="3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 common design parameter κ exist for all curve.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257494"/>
            <a:ext cx="7637186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 cannot be easily extended to the trajectory tracking problem.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42027"/>
            <a:ext cx="7637186" cy="3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Requires twice differentiable paths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993763"/>
            <a:ext cx="7637186" cy="3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 sensitivity for the design parameter κ.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046523"/>
            <a:ext cx="7637186" cy="3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Extension to 3D increases the computational cost.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521226"/>
            <a:ext cx="7637186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proper proof of the stability and convergence of the UAV to the desired path does not exist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46884" y="0"/>
            <a:ext cx="8741116" cy="10287000"/>
          </a:xfrm>
          <a:custGeom>
            <a:avLst/>
            <a:gdLst/>
            <a:ahLst/>
            <a:cxnLst/>
            <a:rect r="r" b="b" t="t" l="l"/>
            <a:pathLst>
              <a:path h="10287000" w="8741116">
                <a:moveTo>
                  <a:pt x="0" y="0"/>
                </a:moveTo>
                <a:lnTo>
                  <a:pt x="8741116" y="0"/>
                </a:lnTo>
                <a:lnTo>
                  <a:pt x="87411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63" t="-7124" r="0" b="-45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3893520" cy="74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1"/>
              </a:lnSpc>
            </a:pPr>
            <a:r>
              <a:rPr lang="en-US" sz="477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58776"/>
            <a:ext cx="7266550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extend the Combined Vector Field (CVF) approach to obstacle avoidance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34405"/>
            <a:ext cx="7266550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Validate the Combined Vector Field (CVF) approach with experiments.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85904"/>
            <a:ext cx="7266550" cy="3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87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Fixed time convergence to the path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3893520" cy="74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1"/>
              </a:lnSpc>
            </a:pPr>
            <a:r>
              <a:rPr lang="en-US" sz="477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45244"/>
            <a:ext cx="16230600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[1] P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Sujit, S. Saripalli, and J. B. Sousa, “Unmanned aerial vehicle path following: A survey and analysis of algorithms for fixed-wing unmanned aerial vehicles,” IEEE Control Systems Magazine, vol. 34, pp. 42–59, February 2014.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22912"/>
            <a:ext cx="16230600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[2] Y. Liang and Y. Jia, “Combined vector field approach for 2d and 3d arbitrary twice differentiable curved path following with constrained uavs,” Journal of Intelligent &amp; Robotic Systems, vol. 83, no. 1-3, pp. 331–360, 2016.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97665"/>
            <a:ext cx="16230600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[3] D. R. Nelson, D. B. Barber, T. W. McLain, and R. W. Beard, “Vector field path following for small unmanned aerial vehicles,” in Proceedings of the American Control Conference, (Minneapolis, MN, USA), pp. 5788–5794, June 2006.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72418"/>
            <a:ext cx="16230600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[4] D. R. Nelson, D. B. Barber, T. W. McLain, and R. W. Beard, “Vector field pathfollowing for miniature air vehicles,” IEEE Transactions on Robotics, vol. 23, pp. 519–529, June 2007.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247171"/>
            <a:ext cx="16230600" cy="3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[5] V. I. Utkin, “Variable structure systems with sliding modes,” IEEE Transactions on Automatic Control, vol. 22, no. 2, pp. 212–222, 1977.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807599"/>
            <a:ext cx="16230600" cy="3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[6] C. Edwards and S. K. Spurgeon, Sliding Mode Control: Theory and Applications. Taylor &amp; Francis, 1998.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368027"/>
            <a:ext cx="16230600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[7] M. Herrera, W. O. Chamorro, A. P. G´omez, and O. Camacho, “Sliding mode control: An approach to control a quadrotor,” in 2015 Asia-Pacific Conference on Computer Aided System Engineering (APCASE), pp. 314–319, 2015.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242780"/>
            <a:ext cx="16230600" cy="62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[8] R. Elagib and A. Karaarslan, “Sliding mode control-based modeling and simulation of a quadcopter,” Journal of Engineering Research and Reports, vol. 24, no. 3, pp. 32–41, 2023.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04459" y="4398547"/>
            <a:ext cx="4079081" cy="97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4"/>
              </a:lnSpc>
              <a:spcBef>
                <a:spcPct val="0"/>
              </a:spcBef>
            </a:pPr>
            <a:r>
              <a:rPr lang="en-US" b="true" sz="62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DAG7mO4bvZk</dc:identifier>
  <dcterms:modified xsi:type="dcterms:W3CDTF">2011-08-01T06:04:30Z</dcterms:modified>
  <cp:revision>1</cp:revision>
  <dc:title>ICTACEM_2025_PPT</dc:title>
</cp:coreProperties>
</file>